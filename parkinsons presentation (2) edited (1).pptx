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4" r:id="rId1"/>
  </p:sldMasterIdLst>
  <p:notesMasterIdLst>
    <p:notesMasterId r:id="rId17"/>
  </p:notesMasterIdLst>
  <p:sldIdLst>
    <p:sldId id="257" r:id="rId2"/>
    <p:sldId id="269" r:id="rId3"/>
    <p:sldId id="256" r:id="rId4"/>
    <p:sldId id="258" r:id="rId5"/>
    <p:sldId id="261" r:id="rId6"/>
    <p:sldId id="260" r:id="rId7"/>
    <p:sldId id="259" r:id="rId8"/>
    <p:sldId id="262" r:id="rId9"/>
    <p:sldId id="263" r:id="rId10"/>
    <p:sldId id="264" r:id="rId11"/>
    <p:sldId id="265" r:id="rId12"/>
    <p:sldId id="267" r:id="rId13"/>
    <p:sldId id="266"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32E4EE-B61B-4365-80F9-9FC2C1734D18}" v="89" dt="2026-03-03T18:41:40.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61" autoAdjust="0"/>
    <p:restoredTop sz="94660"/>
  </p:normalViewPr>
  <p:slideViewPr>
    <p:cSldViewPr snapToGrid="0">
      <p:cViewPr varScale="1">
        <p:scale>
          <a:sx n="71" d="100"/>
          <a:sy n="71" d="100"/>
        </p:scale>
        <p:origin x="72" y="3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726BE1-00D3-44DD-A358-5FEC26C2FF86}" type="datetimeFigureOut">
              <a:rPr lang="en-US" smtClean="0"/>
              <a:t>3/3/2026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0E9A05-F61A-4053-8044-A26E9FB65297}" type="slidenum">
              <a:rPr lang="en-US" smtClean="0"/>
              <a:t>‹#›</a:t>
            </a:fld>
            <a:endParaRPr lang="en-US"/>
          </a:p>
        </p:txBody>
      </p:sp>
    </p:spTree>
    <p:extLst>
      <p:ext uri="{BB962C8B-B14F-4D97-AF65-F5344CB8AC3E}">
        <p14:creationId xmlns:p14="http://schemas.microsoft.com/office/powerpoint/2010/main" val="3404038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0E9A05-F61A-4053-8044-A26E9FB65297}" type="slidenum">
              <a:rPr lang="en-US" smtClean="0"/>
              <a:t>8</a:t>
            </a:fld>
            <a:endParaRPr lang="en-US"/>
          </a:p>
        </p:txBody>
      </p:sp>
    </p:spTree>
    <p:extLst>
      <p:ext uri="{BB962C8B-B14F-4D97-AF65-F5344CB8AC3E}">
        <p14:creationId xmlns:p14="http://schemas.microsoft.com/office/powerpoint/2010/main" val="6162214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1FC60-9AE5-B3FC-ECE5-BC6B8BE172B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B39D071-E92F-DE70-7145-0DF77CB8B2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FD244F-2CC8-CDFA-4557-A39280546F1A}"/>
              </a:ext>
            </a:extLst>
          </p:cNvPr>
          <p:cNvSpPr>
            <a:spLocks noGrp="1"/>
          </p:cNvSpPr>
          <p:nvPr>
            <p:ph type="dt" sz="half" idx="10"/>
          </p:nvPr>
        </p:nvSpPr>
        <p:spPr/>
        <p:txBody>
          <a:bodyPr/>
          <a:lstStyle/>
          <a:p>
            <a:fld id="{65B910DF-B555-4D30-B35E-2297D59E32D0}" type="datetime1">
              <a:rPr lang="en-US" smtClean="0"/>
              <a:t>3/3/2026</a:t>
            </a:fld>
            <a:endParaRPr lang="en-US" dirty="0"/>
          </a:p>
        </p:txBody>
      </p:sp>
      <p:sp>
        <p:nvSpPr>
          <p:cNvPr id="5" name="Footer Placeholder 4">
            <a:extLst>
              <a:ext uri="{FF2B5EF4-FFF2-40B4-BE49-F238E27FC236}">
                <a16:creationId xmlns:a16="http://schemas.microsoft.com/office/drawing/2014/main" id="{43AA6A15-CF4E-8910-CAC5-77AE315967E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D89903E8-28DA-2D87-5DF2-08B84558F4BE}"/>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03543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EE1D9-0427-F09B-574E-231CE07223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60E035-3B68-100E-F56C-53EF01993D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A704AF-8322-7C33-E32D-73D7C5DF6709}"/>
              </a:ext>
            </a:extLst>
          </p:cNvPr>
          <p:cNvSpPr>
            <a:spLocks noGrp="1"/>
          </p:cNvSpPr>
          <p:nvPr>
            <p:ph type="dt" sz="half" idx="10"/>
          </p:nvPr>
        </p:nvSpPr>
        <p:spPr/>
        <p:txBody>
          <a:bodyPr/>
          <a:lstStyle/>
          <a:p>
            <a:fld id="{0DF2F1F9-9322-493A-A9EE-BB75692CE5F5}" type="datetime1">
              <a:rPr lang="en-US" smtClean="0"/>
              <a:t>3/3/2026</a:t>
            </a:fld>
            <a:endParaRPr lang="en-US" dirty="0"/>
          </a:p>
        </p:txBody>
      </p:sp>
      <p:sp>
        <p:nvSpPr>
          <p:cNvPr id="5" name="Footer Placeholder 4">
            <a:extLst>
              <a:ext uri="{FF2B5EF4-FFF2-40B4-BE49-F238E27FC236}">
                <a16:creationId xmlns:a16="http://schemas.microsoft.com/office/drawing/2014/main" id="{6A23A6F8-F35A-51C3-2611-5F795A032D62}"/>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333DECF6-E6FD-5D8C-2D5D-6A8859AC67C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681320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51018-13E2-CB83-D065-CA68A35094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517BDB0-4020-BB6E-E655-D98B29022E0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C07A1F-04C9-5FA2-9947-AC53A671D2EA}"/>
              </a:ext>
            </a:extLst>
          </p:cNvPr>
          <p:cNvSpPr>
            <a:spLocks noGrp="1"/>
          </p:cNvSpPr>
          <p:nvPr>
            <p:ph type="dt" sz="half" idx="10"/>
          </p:nvPr>
        </p:nvSpPr>
        <p:spPr/>
        <p:txBody>
          <a:bodyPr/>
          <a:lstStyle/>
          <a:p>
            <a:fld id="{7858DE51-4D5E-4D23-8181-86A5B05D5351}" type="datetime1">
              <a:rPr lang="en-US" smtClean="0"/>
              <a:t>3/3/2026</a:t>
            </a:fld>
            <a:endParaRPr lang="en-US" dirty="0"/>
          </a:p>
        </p:txBody>
      </p:sp>
      <p:sp>
        <p:nvSpPr>
          <p:cNvPr id="5" name="Footer Placeholder 4">
            <a:extLst>
              <a:ext uri="{FF2B5EF4-FFF2-40B4-BE49-F238E27FC236}">
                <a16:creationId xmlns:a16="http://schemas.microsoft.com/office/drawing/2014/main" id="{99EDD597-BCCC-E5C3-6809-55BF884700A3}"/>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ADB21770-ECA7-8B24-EFF7-0FD712393CD8}"/>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06097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2A2FF-4A4D-A32B-0AB1-6DBF646B70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42B320-8CB9-1D1F-A23C-0593E33311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F5B07A2-28FD-9BE6-1C39-C2DEB18091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F253F16-37EA-CD5B-4619-33DD6D4288BB}"/>
              </a:ext>
            </a:extLst>
          </p:cNvPr>
          <p:cNvSpPr>
            <a:spLocks noGrp="1"/>
          </p:cNvSpPr>
          <p:nvPr>
            <p:ph type="dt" sz="half" idx="10"/>
          </p:nvPr>
        </p:nvSpPr>
        <p:spPr/>
        <p:txBody>
          <a:bodyPr/>
          <a:lstStyle/>
          <a:p>
            <a:fld id="{9C399FCA-87F3-427A-B1A2-15346103C68A}" type="datetime1">
              <a:rPr lang="en-US" smtClean="0"/>
              <a:t>3/3/2026</a:t>
            </a:fld>
            <a:endParaRPr lang="en-US" dirty="0"/>
          </a:p>
        </p:txBody>
      </p:sp>
      <p:sp>
        <p:nvSpPr>
          <p:cNvPr id="6" name="Footer Placeholder 5">
            <a:extLst>
              <a:ext uri="{FF2B5EF4-FFF2-40B4-BE49-F238E27FC236}">
                <a16:creationId xmlns:a16="http://schemas.microsoft.com/office/drawing/2014/main" id="{3033A02B-9693-AA77-26B9-BE4F3580E44F}"/>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90B14AA-9C66-22FF-08BE-C75356786B6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456333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B2CA6-9484-E834-B8C4-F0F7E299497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6BB503-48E7-B83F-84C3-A036F82766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5C5836-3C24-005B-27F4-42212302DD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DD18767-5B5B-DB1E-64EB-887832C49B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927A8CD-AC1A-5933-0040-A9DA80031A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94E33FE-B4E5-FE61-EB4D-5620A5EF27F2}"/>
              </a:ext>
            </a:extLst>
          </p:cNvPr>
          <p:cNvSpPr>
            <a:spLocks noGrp="1"/>
          </p:cNvSpPr>
          <p:nvPr>
            <p:ph type="dt" sz="half" idx="10"/>
          </p:nvPr>
        </p:nvSpPr>
        <p:spPr/>
        <p:txBody>
          <a:bodyPr/>
          <a:lstStyle/>
          <a:p>
            <a:fld id="{693DF709-7E2D-49E6-A629-D8E3363D194F}" type="datetime1">
              <a:rPr lang="en-US" smtClean="0"/>
              <a:t>3/3/2026</a:t>
            </a:fld>
            <a:endParaRPr lang="en-US" dirty="0"/>
          </a:p>
        </p:txBody>
      </p:sp>
      <p:sp>
        <p:nvSpPr>
          <p:cNvPr id="8" name="Footer Placeholder 7">
            <a:extLst>
              <a:ext uri="{FF2B5EF4-FFF2-40B4-BE49-F238E27FC236}">
                <a16:creationId xmlns:a16="http://schemas.microsoft.com/office/drawing/2014/main" id="{271C774D-2020-5861-A674-1CD3FD5B895E}"/>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24CBF377-348B-7145-D59D-52FE1D73E9D9}"/>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4155164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499C0-1127-527B-4268-DD444E3E38B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3C37E2-E87F-1A03-3B4B-586FAA2EA274}"/>
              </a:ext>
            </a:extLst>
          </p:cNvPr>
          <p:cNvSpPr>
            <a:spLocks noGrp="1"/>
          </p:cNvSpPr>
          <p:nvPr>
            <p:ph type="dt" sz="half" idx="10"/>
          </p:nvPr>
        </p:nvSpPr>
        <p:spPr/>
        <p:txBody>
          <a:bodyPr/>
          <a:lstStyle/>
          <a:p>
            <a:fld id="{85D0A921-9375-4BAA-A7C2-7975528669FA}" type="datetime1">
              <a:rPr lang="en-US" smtClean="0"/>
              <a:t>3/3/2026</a:t>
            </a:fld>
            <a:endParaRPr lang="en-US" dirty="0"/>
          </a:p>
        </p:txBody>
      </p:sp>
      <p:sp>
        <p:nvSpPr>
          <p:cNvPr id="4" name="Footer Placeholder 3">
            <a:extLst>
              <a:ext uri="{FF2B5EF4-FFF2-40B4-BE49-F238E27FC236}">
                <a16:creationId xmlns:a16="http://schemas.microsoft.com/office/drawing/2014/main" id="{26467F27-B7C5-A6C8-A571-7303E3F6287D}"/>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34A62B53-ED4C-9F0D-42C4-53F2B35BBFF8}"/>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369620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949032-3CBE-5962-25E5-FF73BD943264}"/>
              </a:ext>
            </a:extLst>
          </p:cNvPr>
          <p:cNvSpPr>
            <a:spLocks noGrp="1"/>
          </p:cNvSpPr>
          <p:nvPr>
            <p:ph type="dt" sz="half" idx="10"/>
          </p:nvPr>
        </p:nvSpPr>
        <p:spPr/>
        <p:txBody>
          <a:bodyPr/>
          <a:lstStyle/>
          <a:p>
            <a:fld id="{A5D25425-F285-48AE-A409-A618E3EEA628}" type="datetime1">
              <a:rPr lang="en-US" smtClean="0"/>
              <a:t>3/3/2026</a:t>
            </a:fld>
            <a:endParaRPr lang="en-US" dirty="0"/>
          </a:p>
        </p:txBody>
      </p:sp>
      <p:sp>
        <p:nvSpPr>
          <p:cNvPr id="3" name="Footer Placeholder 2">
            <a:extLst>
              <a:ext uri="{FF2B5EF4-FFF2-40B4-BE49-F238E27FC236}">
                <a16:creationId xmlns:a16="http://schemas.microsoft.com/office/drawing/2014/main" id="{911D825B-084E-7676-F730-71256C944DF0}"/>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EAD21CF4-EBBF-A63A-7460-862BD40CC429}"/>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927705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D609-463C-E160-4DFD-D8E05631B3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F2D7193-7739-03A8-D226-674FFDAB9F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C03414F-EF32-FF95-52BC-7D3C626CA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47C9C0-E971-8899-AF00-7898274AE485}"/>
              </a:ext>
            </a:extLst>
          </p:cNvPr>
          <p:cNvSpPr>
            <a:spLocks noGrp="1"/>
          </p:cNvSpPr>
          <p:nvPr>
            <p:ph type="dt" sz="half" idx="10"/>
          </p:nvPr>
        </p:nvSpPr>
        <p:spPr/>
        <p:txBody>
          <a:bodyPr/>
          <a:lstStyle/>
          <a:p>
            <a:fld id="{EB56A94D-7D6A-4378-93F6-A3A33186E34B}" type="datetime1">
              <a:rPr lang="en-US" smtClean="0"/>
              <a:t>3/3/2026</a:t>
            </a:fld>
            <a:endParaRPr lang="en-US" dirty="0"/>
          </a:p>
        </p:txBody>
      </p:sp>
      <p:sp>
        <p:nvSpPr>
          <p:cNvPr id="6" name="Footer Placeholder 5">
            <a:extLst>
              <a:ext uri="{FF2B5EF4-FFF2-40B4-BE49-F238E27FC236}">
                <a16:creationId xmlns:a16="http://schemas.microsoft.com/office/drawing/2014/main" id="{31030613-B6EF-50A7-B64C-68D5B11DBAE2}"/>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6A30593A-73DA-C602-703B-12D1973D5FF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374528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F9CB3-3974-BC0F-9EFD-3D61524211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E1D9357-A58C-A39C-BE03-FB728B86AD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AEFCA3-C792-D02B-52AE-7255ECAA2E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9F2CE7-1500-858E-7FB8-D8A9E1083362}"/>
              </a:ext>
            </a:extLst>
          </p:cNvPr>
          <p:cNvSpPr>
            <a:spLocks noGrp="1"/>
          </p:cNvSpPr>
          <p:nvPr>
            <p:ph type="dt" sz="half" idx="10"/>
          </p:nvPr>
        </p:nvSpPr>
        <p:spPr/>
        <p:txBody>
          <a:bodyPr/>
          <a:lstStyle/>
          <a:p>
            <a:fld id="{285FC0F9-687B-4417-9D77-CE2D7AD8C321}" type="datetime1">
              <a:rPr lang="en-US" smtClean="0"/>
              <a:t>3/3/2026</a:t>
            </a:fld>
            <a:endParaRPr lang="en-US" dirty="0"/>
          </a:p>
        </p:txBody>
      </p:sp>
      <p:sp>
        <p:nvSpPr>
          <p:cNvPr id="6" name="Footer Placeholder 5">
            <a:extLst>
              <a:ext uri="{FF2B5EF4-FFF2-40B4-BE49-F238E27FC236}">
                <a16:creationId xmlns:a16="http://schemas.microsoft.com/office/drawing/2014/main" id="{ABA3156D-2D54-94AD-CEDE-7F53E08B88E2}"/>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97E25EF3-FB8E-039E-9114-58A549CD7B6F}"/>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596804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B2EDB-6E59-A71A-E5E8-B07F310FEE7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1C4956-F2DC-DE92-D2DD-CE0614FBA4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8D887E-7515-52D0-3CA8-A327A85BCEBF}"/>
              </a:ext>
            </a:extLst>
          </p:cNvPr>
          <p:cNvSpPr>
            <a:spLocks noGrp="1"/>
          </p:cNvSpPr>
          <p:nvPr>
            <p:ph type="dt" sz="half" idx="10"/>
          </p:nvPr>
        </p:nvSpPr>
        <p:spPr/>
        <p:txBody>
          <a:bodyPr/>
          <a:lstStyle/>
          <a:p>
            <a:fld id="{29D1D79F-E600-4AC1-A639-0B9FB8286C38}" type="datetime1">
              <a:rPr lang="en-US" smtClean="0"/>
              <a:t>3/3/2026</a:t>
            </a:fld>
            <a:endParaRPr lang="en-US" dirty="0"/>
          </a:p>
        </p:txBody>
      </p:sp>
      <p:sp>
        <p:nvSpPr>
          <p:cNvPr id="5" name="Footer Placeholder 4">
            <a:extLst>
              <a:ext uri="{FF2B5EF4-FFF2-40B4-BE49-F238E27FC236}">
                <a16:creationId xmlns:a16="http://schemas.microsoft.com/office/drawing/2014/main" id="{415F7B07-4DB5-D531-CC4C-1DA8AB27027C}"/>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51B812A2-CE26-A3FE-39BC-A1B9EB4F6099}"/>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182092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22AF2-BFAB-4974-3F56-2C156BCDA49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19EBCF-0C94-F07F-334A-DBD5BD2AC24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4B6429-6190-1129-7E78-BCF178D00E4C}"/>
              </a:ext>
            </a:extLst>
          </p:cNvPr>
          <p:cNvSpPr>
            <a:spLocks noGrp="1"/>
          </p:cNvSpPr>
          <p:nvPr>
            <p:ph type="dt" sz="half" idx="10"/>
          </p:nvPr>
        </p:nvSpPr>
        <p:spPr/>
        <p:txBody>
          <a:bodyPr/>
          <a:lstStyle/>
          <a:p>
            <a:fld id="{390F5D60-A842-4D08-9D7D-A7A57AB501A2}" type="datetime1">
              <a:rPr lang="en-US" smtClean="0"/>
              <a:t>3/3/2026</a:t>
            </a:fld>
            <a:endParaRPr lang="en-US" dirty="0"/>
          </a:p>
        </p:txBody>
      </p:sp>
      <p:sp>
        <p:nvSpPr>
          <p:cNvPr id="5" name="Footer Placeholder 4">
            <a:extLst>
              <a:ext uri="{FF2B5EF4-FFF2-40B4-BE49-F238E27FC236}">
                <a16:creationId xmlns:a16="http://schemas.microsoft.com/office/drawing/2014/main" id="{5E73B289-F852-C45B-9F8A-5F9A65350614}"/>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CCFC34D0-545D-A736-F78A-F825D80BF1E7}"/>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016781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BA996E-33A8-82D3-CE70-996D3A39EB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4D2085-12EC-4B74-7333-66479C95A5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690772-D01C-9033-5562-D5D3F7EF5D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2DFD30-2122-4F4A-97B4-D0A849E36C5F}" type="datetime1">
              <a:rPr lang="en-US" smtClean="0"/>
              <a:t>3/3/2026</a:t>
            </a:fld>
            <a:endParaRPr lang="en-US" dirty="0"/>
          </a:p>
        </p:txBody>
      </p:sp>
      <p:sp>
        <p:nvSpPr>
          <p:cNvPr id="5" name="Footer Placeholder 4">
            <a:extLst>
              <a:ext uri="{FF2B5EF4-FFF2-40B4-BE49-F238E27FC236}">
                <a16:creationId xmlns:a16="http://schemas.microsoft.com/office/drawing/2014/main" id="{B76DD1DC-0F2E-282A-390B-5B71673F53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1332DEEB-1FCD-AE77-7FBD-BE6ACF9AA8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382452862"/>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553A4-8B8F-62D5-C54D-BFCA23B261A9}"/>
            </a:ext>
          </a:extLst>
        </p:cNvPr>
        <p:cNvGrpSpPr/>
        <p:nvPr/>
      </p:nvGrpSpPr>
      <p:grpSpPr>
        <a:xfrm>
          <a:off x="0" y="0"/>
          <a:ext cx="0" cy="0"/>
          <a:chOff x="0" y="0"/>
          <a:chExt cx="0" cy="0"/>
        </a:xfrm>
      </p:grpSpPr>
      <p:sp>
        <p:nvSpPr>
          <p:cNvPr id="13" name="Freeform 2"/>
          <p:cNvSpPr/>
          <p:nvPr/>
        </p:nvSpPr>
        <p:spPr>
          <a:xfrm>
            <a:off x="0" y="0"/>
            <a:ext cx="12192000" cy="1904999"/>
          </a:xfrm>
          <a:custGeom>
            <a:avLst/>
            <a:gdLst/>
            <a:ahLst/>
            <a:cxnLst/>
            <a:rect l="l" t="t" r="r" b="b"/>
            <a:pathLst>
              <a:path w="18288000" h="2898687">
                <a:moveTo>
                  <a:pt x="0" y="0"/>
                </a:moveTo>
                <a:lnTo>
                  <a:pt x="18288000" y="0"/>
                </a:lnTo>
                <a:lnTo>
                  <a:pt x="18288000" y="2898687"/>
                </a:lnTo>
                <a:lnTo>
                  <a:pt x="0" y="2898687"/>
                </a:lnTo>
                <a:lnTo>
                  <a:pt x="0" y="0"/>
                </a:lnTo>
                <a:close/>
              </a:path>
            </a:pathLst>
          </a:custGeom>
          <a:blipFill>
            <a:blip r:embed="rId2"/>
            <a:stretch>
              <a:fillRect t="-26" r="-883" b="-219"/>
            </a:stretch>
          </a:blipFill>
        </p:spPr>
        <p:txBody>
          <a:bodyPr/>
          <a:lstStyle/>
          <a:p>
            <a:endParaRPr lang="en-IN">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1B5B906-A9EE-ACD9-8B38-0AE6156F2C0A}"/>
              </a:ext>
            </a:extLst>
          </p:cNvPr>
          <p:cNvSpPr txBox="1"/>
          <p:nvPr/>
        </p:nvSpPr>
        <p:spPr>
          <a:xfrm>
            <a:off x="1455920" y="1904999"/>
            <a:ext cx="10020300" cy="518155"/>
          </a:xfrm>
          <a:prstGeom prst="rect">
            <a:avLst/>
          </a:prstGeom>
          <a:noFill/>
        </p:spPr>
        <p:txBody>
          <a:bodyPr wrap="square">
            <a:spAutoFit/>
          </a:bodyPr>
          <a:lstStyle/>
          <a:p>
            <a:pPr algn="ctr">
              <a:lnSpc>
                <a:spcPts val="3779"/>
              </a:lnSpc>
              <a:spcBef>
                <a:spcPct val="0"/>
              </a:spcBef>
            </a:pPr>
            <a:r>
              <a:rPr lang="en-US" sz="2000" spc="296" dirty="0">
                <a:solidFill>
                  <a:srgbClr val="061313"/>
                </a:solidFill>
                <a:latin typeface="Times New Roman" panose="02020603050405020304" pitchFamily="18" charset="0"/>
                <a:ea typeface="Libre Baskerville"/>
                <a:cs typeface="Times New Roman" panose="02020603050405020304" pitchFamily="18" charset="0"/>
                <a:sym typeface="Libre Baskerville"/>
              </a:rPr>
              <a:t>DEPARTMENT OF COMPUTER SCIENCE &amp; ENGINEERING</a:t>
            </a:r>
          </a:p>
        </p:txBody>
      </p:sp>
      <p:sp>
        <p:nvSpPr>
          <p:cNvPr id="17" name="TextBox 16">
            <a:extLst>
              <a:ext uri="{FF2B5EF4-FFF2-40B4-BE49-F238E27FC236}">
                <a16:creationId xmlns:a16="http://schemas.microsoft.com/office/drawing/2014/main" id="{5379B6B7-82E9-3E9A-8EC7-AC5816C7C1E9}"/>
              </a:ext>
            </a:extLst>
          </p:cNvPr>
          <p:cNvSpPr txBox="1"/>
          <p:nvPr/>
        </p:nvSpPr>
        <p:spPr>
          <a:xfrm>
            <a:off x="226142" y="2602012"/>
            <a:ext cx="11732853" cy="523990"/>
          </a:xfrm>
          <a:prstGeom prst="rect">
            <a:avLst/>
          </a:prstGeom>
          <a:noFill/>
        </p:spPr>
        <p:txBody>
          <a:bodyPr wrap="square">
            <a:spAutoFit/>
          </a:bodyPr>
          <a:lstStyle/>
          <a:p>
            <a:pPr algn="ctr">
              <a:lnSpc>
                <a:spcPts val="3779"/>
              </a:lnSpc>
              <a:spcBef>
                <a:spcPct val="0"/>
              </a:spcBef>
            </a:pPr>
            <a:r>
              <a:rPr lang="en-US" sz="2200" b="1" spc="296" dirty="0">
                <a:solidFill>
                  <a:srgbClr val="061313"/>
                </a:solidFill>
                <a:latin typeface="Times New Roman" panose="02020603050405020304" pitchFamily="18" charset="0"/>
                <a:ea typeface="Libre Baskerville"/>
                <a:cs typeface="Times New Roman" panose="02020603050405020304" pitchFamily="18" charset="0"/>
                <a:sym typeface="Libre Baskerville"/>
              </a:rPr>
              <a:t>TITLE:EARLY PREDICTION OF PARKINSON’S DISEASE SEVERITY</a:t>
            </a:r>
          </a:p>
        </p:txBody>
      </p:sp>
      <p:sp>
        <p:nvSpPr>
          <p:cNvPr id="18" name="TextBox 4">
            <a:extLst>
              <a:ext uri="{FF2B5EF4-FFF2-40B4-BE49-F238E27FC236}">
                <a16:creationId xmlns:a16="http://schemas.microsoft.com/office/drawing/2014/main" id="{A473E33F-1DDE-1FD5-6953-BCF3CFCE4C7B}"/>
              </a:ext>
            </a:extLst>
          </p:cNvPr>
          <p:cNvSpPr txBox="1"/>
          <p:nvPr/>
        </p:nvSpPr>
        <p:spPr>
          <a:xfrm>
            <a:off x="-178354" y="5318026"/>
            <a:ext cx="3846761" cy="1015791"/>
          </a:xfrm>
          <a:prstGeom prst="rect">
            <a:avLst/>
          </a:prstGeom>
        </p:spPr>
        <p:txBody>
          <a:bodyPr lIns="0" tIns="0" rIns="0" bIns="0" rtlCol="0" anchor="t">
            <a:spAutoFit/>
          </a:bodyPr>
          <a:lstStyle/>
          <a:p>
            <a:pPr algn="ctr">
              <a:lnSpc>
                <a:spcPts val="2659"/>
              </a:lnSpc>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S. Triveni</a:t>
            </a:r>
          </a:p>
          <a:p>
            <a:pPr algn="ctr">
              <a:lnSpc>
                <a:spcPts val="2659"/>
              </a:lnSpc>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Assistant Professor</a:t>
            </a:r>
          </a:p>
          <a:p>
            <a:pPr marL="0" lvl="0" indent="0" algn="ctr">
              <a:lnSpc>
                <a:spcPts val="2659"/>
              </a:lnSpc>
              <a:spcBef>
                <a:spcPct val="0"/>
              </a:spcBef>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Dept of CSE </a:t>
            </a:r>
          </a:p>
        </p:txBody>
      </p:sp>
      <p:sp>
        <p:nvSpPr>
          <p:cNvPr id="19" name="TextBox 5">
            <a:extLst>
              <a:ext uri="{FF2B5EF4-FFF2-40B4-BE49-F238E27FC236}">
                <a16:creationId xmlns:a16="http://schemas.microsoft.com/office/drawing/2014/main" id="{087DA7C2-E665-07AA-6AB9-38521DCC1D79}"/>
              </a:ext>
            </a:extLst>
          </p:cNvPr>
          <p:cNvSpPr txBox="1"/>
          <p:nvPr/>
        </p:nvSpPr>
        <p:spPr>
          <a:xfrm>
            <a:off x="962421" y="4805843"/>
            <a:ext cx="3846761" cy="352276"/>
          </a:xfrm>
          <a:prstGeom prst="rect">
            <a:avLst/>
          </a:prstGeom>
        </p:spPr>
        <p:txBody>
          <a:bodyPr lIns="0" tIns="0" rIns="0" bIns="0" rtlCol="0" anchor="t">
            <a:spAutoFit/>
          </a:bodyPr>
          <a:lstStyle/>
          <a:p>
            <a:pPr marL="0" lvl="0" indent="0" algn="l">
              <a:lnSpc>
                <a:spcPts val="3079"/>
              </a:lnSpc>
              <a:spcBef>
                <a:spcPct val="0"/>
              </a:spcBef>
            </a:pPr>
            <a:r>
              <a:rPr lang="en-US" b="1" dirty="0">
                <a:solidFill>
                  <a:srgbClr val="061313"/>
                </a:solidFill>
                <a:latin typeface="Times New Roman" panose="02020603050405020304" pitchFamily="18" charset="0"/>
                <a:ea typeface="Libre Baskerville Bold"/>
                <a:cs typeface="Times New Roman" panose="02020603050405020304" pitchFamily="18" charset="0"/>
                <a:sym typeface="Libre Baskerville Bold"/>
              </a:rPr>
              <a:t>SUPERVISOR</a:t>
            </a:r>
          </a:p>
        </p:txBody>
      </p:sp>
      <p:sp>
        <p:nvSpPr>
          <p:cNvPr id="20" name="TextBox 6">
            <a:extLst>
              <a:ext uri="{FF2B5EF4-FFF2-40B4-BE49-F238E27FC236}">
                <a16:creationId xmlns:a16="http://schemas.microsoft.com/office/drawing/2014/main" id="{28934072-9649-F944-C9F7-4775544A2BD9}"/>
              </a:ext>
            </a:extLst>
          </p:cNvPr>
          <p:cNvSpPr txBox="1"/>
          <p:nvPr/>
        </p:nvSpPr>
        <p:spPr>
          <a:xfrm>
            <a:off x="4513007" y="5318026"/>
            <a:ext cx="3726426" cy="1015791"/>
          </a:xfrm>
          <a:prstGeom prst="rect">
            <a:avLst/>
          </a:prstGeom>
        </p:spPr>
        <p:txBody>
          <a:bodyPr wrap="square" lIns="0" tIns="0" rIns="0" bIns="0" rtlCol="0" anchor="t">
            <a:spAutoFit/>
          </a:bodyPr>
          <a:lstStyle/>
          <a:p>
            <a:pPr algn="ctr">
              <a:lnSpc>
                <a:spcPts val="2659"/>
              </a:lnSpc>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MD. Sharfuddin Waseem</a:t>
            </a:r>
          </a:p>
          <a:p>
            <a:pPr algn="ctr">
              <a:lnSpc>
                <a:spcPts val="2659"/>
              </a:lnSpc>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Assistant Professor</a:t>
            </a:r>
          </a:p>
          <a:p>
            <a:pPr marL="0" lvl="0" indent="0" algn="ctr">
              <a:lnSpc>
                <a:spcPts val="2659"/>
              </a:lnSpc>
              <a:spcBef>
                <a:spcPct val="0"/>
              </a:spcBef>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Dept of CSE </a:t>
            </a:r>
          </a:p>
        </p:txBody>
      </p:sp>
      <p:sp>
        <p:nvSpPr>
          <p:cNvPr id="21" name="TextBox 7">
            <a:extLst>
              <a:ext uri="{FF2B5EF4-FFF2-40B4-BE49-F238E27FC236}">
                <a16:creationId xmlns:a16="http://schemas.microsoft.com/office/drawing/2014/main" id="{49AF6796-86FE-5886-3B97-89527C868118}"/>
              </a:ext>
            </a:extLst>
          </p:cNvPr>
          <p:cNvSpPr txBox="1"/>
          <p:nvPr/>
        </p:nvSpPr>
        <p:spPr>
          <a:xfrm>
            <a:off x="5459439" y="4744666"/>
            <a:ext cx="3846761" cy="352276"/>
          </a:xfrm>
          <a:prstGeom prst="rect">
            <a:avLst/>
          </a:prstGeom>
        </p:spPr>
        <p:txBody>
          <a:bodyPr lIns="0" tIns="0" rIns="0" bIns="0" rtlCol="0" anchor="t">
            <a:spAutoFit/>
          </a:bodyPr>
          <a:lstStyle/>
          <a:p>
            <a:pPr marL="0" lvl="0" indent="0" algn="l">
              <a:lnSpc>
                <a:spcPts val="3079"/>
              </a:lnSpc>
              <a:spcBef>
                <a:spcPct val="0"/>
              </a:spcBef>
            </a:pPr>
            <a:r>
              <a:rPr lang="en-US" b="1" dirty="0">
                <a:solidFill>
                  <a:srgbClr val="061313"/>
                </a:solidFill>
                <a:latin typeface="Times New Roman" panose="02020603050405020304" pitchFamily="18" charset="0"/>
                <a:ea typeface="Libre Baskerville Bold"/>
                <a:cs typeface="Times New Roman" panose="02020603050405020304" pitchFamily="18" charset="0"/>
                <a:sym typeface="Libre Baskerville Bold"/>
              </a:rPr>
              <a:t>COORDINATOR</a:t>
            </a:r>
          </a:p>
        </p:txBody>
      </p:sp>
      <p:sp>
        <p:nvSpPr>
          <p:cNvPr id="22" name="TextBox 9">
            <a:extLst>
              <a:ext uri="{FF2B5EF4-FFF2-40B4-BE49-F238E27FC236}">
                <a16:creationId xmlns:a16="http://schemas.microsoft.com/office/drawing/2014/main" id="{6D3FF141-E0D2-FF05-1A5F-391439167CEB}"/>
              </a:ext>
            </a:extLst>
          </p:cNvPr>
          <p:cNvSpPr txBox="1"/>
          <p:nvPr/>
        </p:nvSpPr>
        <p:spPr>
          <a:xfrm>
            <a:off x="9133707" y="4795608"/>
            <a:ext cx="3846761" cy="352276"/>
          </a:xfrm>
          <a:prstGeom prst="rect">
            <a:avLst/>
          </a:prstGeom>
        </p:spPr>
        <p:txBody>
          <a:bodyPr lIns="0" tIns="0" rIns="0" bIns="0" rtlCol="0" anchor="t">
            <a:spAutoFit/>
          </a:bodyPr>
          <a:lstStyle/>
          <a:p>
            <a:pPr marL="0" lvl="0" indent="0" algn="l">
              <a:lnSpc>
                <a:spcPts val="3079"/>
              </a:lnSpc>
              <a:spcBef>
                <a:spcPct val="0"/>
              </a:spcBef>
            </a:pPr>
            <a:r>
              <a:rPr lang="en-US" b="1" dirty="0">
                <a:solidFill>
                  <a:srgbClr val="061313"/>
                </a:solidFill>
                <a:latin typeface="Times New Roman" panose="02020603050405020304" pitchFamily="18" charset="0"/>
                <a:ea typeface="Libre Baskerville Bold"/>
                <a:cs typeface="Times New Roman" panose="02020603050405020304" pitchFamily="18" charset="0"/>
                <a:sym typeface="Libre Baskerville Bold"/>
              </a:rPr>
              <a:t>PRESENTED BY</a:t>
            </a:r>
          </a:p>
        </p:txBody>
      </p:sp>
      <p:sp>
        <p:nvSpPr>
          <p:cNvPr id="23" name="TextBox 10">
            <a:extLst>
              <a:ext uri="{FF2B5EF4-FFF2-40B4-BE49-F238E27FC236}">
                <a16:creationId xmlns:a16="http://schemas.microsoft.com/office/drawing/2014/main" id="{92456C01-BC55-69BE-40BD-1777AE46B3DA}"/>
              </a:ext>
            </a:extLst>
          </p:cNvPr>
          <p:cNvSpPr txBox="1"/>
          <p:nvPr/>
        </p:nvSpPr>
        <p:spPr>
          <a:xfrm>
            <a:off x="8112234" y="5227483"/>
            <a:ext cx="3846761" cy="1362040"/>
          </a:xfrm>
          <a:prstGeom prst="rect">
            <a:avLst/>
          </a:prstGeom>
        </p:spPr>
        <p:txBody>
          <a:bodyPr lIns="0" tIns="0" rIns="0" bIns="0" rtlCol="0" anchor="t">
            <a:spAutoFit/>
          </a:bodyPr>
          <a:lstStyle/>
          <a:p>
            <a:pPr algn="ctr">
              <a:lnSpc>
                <a:spcPts val="2659"/>
              </a:lnSpc>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P. Abhinav (B22CS001)</a:t>
            </a:r>
          </a:p>
          <a:p>
            <a:pPr algn="ctr">
              <a:lnSpc>
                <a:spcPts val="2659"/>
              </a:lnSpc>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K. Kavya (B22CS019)</a:t>
            </a:r>
          </a:p>
          <a:p>
            <a:pPr algn="ctr">
              <a:lnSpc>
                <a:spcPts val="2659"/>
              </a:lnSpc>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A. Harshini (B22CS050)</a:t>
            </a:r>
          </a:p>
          <a:p>
            <a:pPr algn="ctr">
              <a:lnSpc>
                <a:spcPts val="2659"/>
              </a:lnSpc>
            </a:pPr>
            <a:r>
              <a:rPr lang="en-US" dirty="0">
                <a:solidFill>
                  <a:srgbClr val="061313"/>
                </a:solidFill>
                <a:latin typeface="Times New Roman" panose="02020603050405020304" pitchFamily="18" charset="0"/>
                <a:ea typeface="Libre Baskerville"/>
                <a:cs typeface="Times New Roman" panose="02020603050405020304" pitchFamily="18" charset="0"/>
                <a:sym typeface="Libre Baskerville"/>
              </a:rPr>
              <a:t>V. V. Vishnu. S (B22CS060)</a:t>
            </a:r>
          </a:p>
        </p:txBody>
      </p:sp>
      <p:sp>
        <p:nvSpPr>
          <p:cNvPr id="24" name="TextBox 23">
            <a:extLst>
              <a:ext uri="{FF2B5EF4-FFF2-40B4-BE49-F238E27FC236}">
                <a16:creationId xmlns:a16="http://schemas.microsoft.com/office/drawing/2014/main" id="{0A80DF0D-0750-2E6F-591D-70984673EC7A}"/>
              </a:ext>
            </a:extLst>
          </p:cNvPr>
          <p:cNvSpPr txBox="1"/>
          <p:nvPr/>
        </p:nvSpPr>
        <p:spPr>
          <a:xfrm>
            <a:off x="1283845" y="3376216"/>
            <a:ext cx="10020300" cy="511935"/>
          </a:xfrm>
          <a:prstGeom prst="rect">
            <a:avLst/>
          </a:prstGeom>
          <a:noFill/>
        </p:spPr>
        <p:txBody>
          <a:bodyPr wrap="square">
            <a:spAutoFit/>
          </a:bodyPr>
          <a:lstStyle/>
          <a:p>
            <a:pPr algn="ctr">
              <a:lnSpc>
                <a:spcPts val="3779"/>
              </a:lnSpc>
              <a:spcBef>
                <a:spcPct val="0"/>
              </a:spcBef>
            </a:pPr>
            <a:r>
              <a:rPr lang="en-US" spc="296" dirty="0">
                <a:solidFill>
                  <a:srgbClr val="061313"/>
                </a:solidFill>
                <a:latin typeface="Times New Roman" panose="02020603050405020304" pitchFamily="18" charset="0"/>
                <a:ea typeface="Libre Baskerville"/>
                <a:cs typeface="Times New Roman" panose="02020603050405020304" pitchFamily="18" charset="0"/>
                <a:sym typeface="Libre Baskerville"/>
              </a:rPr>
              <a:t>DOMAIN: ARTIFICIAL INTELLIGENCE &amp; MACHINE LEARNING</a:t>
            </a:r>
            <a:endParaRPr lang="en-US" sz="1800" spc="296" dirty="0">
              <a:solidFill>
                <a:srgbClr val="061313"/>
              </a:solidFill>
              <a:latin typeface="Times New Roman" panose="02020603050405020304" pitchFamily="18" charset="0"/>
              <a:ea typeface="Libre Baskerville"/>
              <a:cs typeface="Times New Roman" panose="02020603050405020304" pitchFamily="18" charset="0"/>
              <a:sym typeface="Libre Baskerville"/>
            </a:endParaRPr>
          </a:p>
        </p:txBody>
      </p:sp>
      <p:sp>
        <p:nvSpPr>
          <p:cNvPr id="25" name="TextBox 24">
            <a:extLst>
              <a:ext uri="{FF2B5EF4-FFF2-40B4-BE49-F238E27FC236}">
                <a16:creationId xmlns:a16="http://schemas.microsoft.com/office/drawing/2014/main" id="{F0C63E3C-7C1B-D650-35E7-2DBDE987DCD5}"/>
              </a:ext>
            </a:extLst>
          </p:cNvPr>
          <p:cNvSpPr txBox="1"/>
          <p:nvPr/>
        </p:nvSpPr>
        <p:spPr>
          <a:xfrm>
            <a:off x="1278536" y="3934278"/>
            <a:ext cx="10020300" cy="511935"/>
          </a:xfrm>
          <a:prstGeom prst="rect">
            <a:avLst/>
          </a:prstGeom>
          <a:noFill/>
        </p:spPr>
        <p:txBody>
          <a:bodyPr wrap="square">
            <a:spAutoFit/>
          </a:bodyPr>
          <a:lstStyle/>
          <a:p>
            <a:pPr algn="ctr">
              <a:lnSpc>
                <a:spcPts val="3779"/>
              </a:lnSpc>
              <a:spcBef>
                <a:spcPct val="0"/>
              </a:spcBef>
            </a:pPr>
            <a:r>
              <a:rPr lang="en-US" sz="1800" spc="296" dirty="0">
                <a:solidFill>
                  <a:srgbClr val="061313"/>
                </a:solidFill>
                <a:latin typeface="Times New Roman" panose="02020603050405020304" pitchFamily="18" charset="0"/>
                <a:ea typeface="Libre Baskerville"/>
                <a:cs typeface="Times New Roman" panose="02020603050405020304" pitchFamily="18" charset="0"/>
                <a:sym typeface="Libre Baskerville"/>
              </a:rPr>
              <a:t>BATCH - 14</a:t>
            </a:r>
          </a:p>
        </p:txBody>
      </p:sp>
    </p:spTree>
    <p:extLst>
      <p:ext uri="{BB962C8B-B14F-4D97-AF65-F5344CB8AC3E}">
        <p14:creationId xmlns:p14="http://schemas.microsoft.com/office/powerpoint/2010/main" val="5641945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9F17-3D8B-2528-8AE9-B521C2DA3615}"/>
              </a:ext>
            </a:extLst>
          </p:cNvPr>
          <p:cNvSpPr>
            <a:spLocks noGrp="1"/>
          </p:cNvSpPr>
          <p:nvPr>
            <p:ph type="title"/>
          </p:nvPr>
        </p:nvSpPr>
        <p:spPr>
          <a:xfrm>
            <a:off x="4709651" y="365125"/>
            <a:ext cx="2772698" cy="1325563"/>
          </a:xfrm>
        </p:spPr>
        <p:txBody>
          <a:bodyPr>
            <a:normAutofit/>
          </a:bodyPr>
          <a:lstStyle/>
          <a:p>
            <a:pPr algn="ctr"/>
            <a:r>
              <a:rPr lang="en-US" sz="4000" dirty="0"/>
              <a:t>CONTENTS</a:t>
            </a:r>
            <a:endParaRPr lang="en-IN" sz="4000" dirty="0"/>
          </a:p>
        </p:txBody>
      </p:sp>
      <p:sp>
        <p:nvSpPr>
          <p:cNvPr id="3" name="Content Placeholder 2">
            <a:extLst>
              <a:ext uri="{FF2B5EF4-FFF2-40B4-BE49-F238E27FC236}">
                <a16:creationId xmlns:a16="http://schemas.microsoft.com/office/drawing/2014/main" id="{190556B2-4620-2D80-16D7-87C0763D3AB2}"/>
              </a:ext>
            </a:extLst>
          </p:cNvPr>
          <p:cNvSpPr>
            <a:spLocks noGrp="1"/>
          </p:cNvSpPr>
          <p:nvPr>
            <p:ph sz="half"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1. Abstract</a:t>
            </a:r>
          </a:p>
          <a:p>
            <a:pPr marL="0" indent="0">
              <a:buNone/>
            </a:pPr>
            <a:r>
              <a:rPr lang="en-US" dirty="0">
                <a:latin typeface="Times New Roman" panose="02020603050405020304" pitchFamily="18" charset="0"/>
                <a:cs typeface="Times New Roman" panose="02020603050405020304" pitchFamily="18" charset="0"/>
              </a:rPr>
              <a:t>2. Problem Statement</a:t>
            </a:r>
          </a:p>
          <a:p>
            <a:pPr marL="0" indent="0">
              <a:buNone/>
            </a:pPr>
            <a:r>
              <a:rPr lang="en-US" dirty="0">
                <a:latin typeface="Times New Roman" panose="02020603050405020304" pitchFamily="18" charset="0"/>
                <a:cs typeface="Times New Roman" panose="02020603050405020304" pitchFamily="18" charset="0"/>
              </a:rPr>
              <a:t>3. Objectives</a:t>
            </a:r>
          </a:p>
          <a:p>
            <a:pPr marL="0" indent="0">
              <a:buNone/>
            </a:pPr>
            <a:r>
              <a:rPr lang="en-US" dirty="0">
                <a:latin typeface="Times New Roman" panose="02020603050405020304" pitchFamily="18" charset="0"/>
                <a:cs typeface="Times New Roman" panose="02020603050405020304" pitchFamily="18" charset="0"/>
              </a:rPr>
              <a:t>4. Literature Review</a:t>
            </a:r>
          </a:p>
          <a:p>
            <a:pPr marL="0" indent="0">
              <a:buNone/>
            </a:pPr>
            <a:r>
              <a:rPr lang="en-US" dirty="0">
                <a:latin typeface="Times New Roman" panose="02020603050405020304" pitchFamily="18" charset="0"/>
                <a:cs typeface="Times New Roman" panose="02020603050405020304" pitchFamily="18" charset="0"/>
              </a:rPr>
              <a:t>5. Requirements</a:t>
            </a:r>
          </a:p>
          <a:p>
            <a:pPr marL="0" indent="0">
              <a:buNone/>
            </a:pPr>
            <a:r>
              <a:rPr lang="en-US" dirty="0">
                <a:latin typeface="Times New Roman" panose="02020603050405020304" pitchFamily="18" charset="0"/>
                <a:cs typeface="Times New Roman" panose="02020603050405020304" pitchFamily="18" charset="0"/>
              </a:rPr>
              <a:t>6. Methodology and Architecture</a:t>
            </a:r>
          </a:p>
          <a:p>
            <a:pPr marL="0" indent="0">
              <a:buNone/>
            </a:pPr>
            <a:r>
              <a:rPr lang="en-US" dirty="0">
                <a:latin typeface="Times New Roman" panose="02020603050405020304" pitchFamily="18" charset="0"/>
                <a:cs typeface="Times New Roman" panose="02020603050405020304" pitchFamily="18" charset="0"/>
              </a:rPr>
              <a:t>7. Inputs and Outputs</a:t>
            </a:r>
          </a:p>
          <a:p>
            <a:endParaRPr lang="en-US" dirty="0"/>
          </a:p>
          <a:p>
            <a:endParaRPr lang="en-US" dirty="0"/>
          </a:p>
          <a:p>
            <a:endParaRPr lang="en-US" dirty="0"/>
          </a:p>
          <a:p>
            <a:endParaRPr lang="en-US" dirty="0"/>
          </a:p>
          <a:p>
            <a:endParaRPr lang="en-IN" dirty="0"/>
          </a:p>
        </p:txBody>
      </p:sp>
      <p:sp>
        <p:nvSpPr>
          <p:cNvPr id="4" name="Content Placeholder 3">
            <a:extLst>
              <a:ext uri="{FF2B5EF4-FFF2-40B4-BE49-F238E27FC236}">
                <a16:creationId xmlns:a16="http://schemas.microsoft.com/office/drawing/2014/main" id="{9E26FFFB-1688-3F53-360D-25DCBA0DAEAE}"/>
              </a:ext>
            </a:extLst>
          </p:cNvPr>
          <p:cNvSpPr>
            <a:spLocks noGrp="1"/>
          </p:cNvSpPr>
          <p:nvPr>
            <p:ph sz="half" idx="2"/>
          </p:nvPr>
        </p:nvSpPr>
        <p:spPr>
          <a:xfrm>
            <a:off x="6597445" y="1825625"/>
            <a:ext cx="5257800" cy="4351337"/>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 8. ML Algorithms</a:t>
            </a:r>
          </a:p>
          <a:p>
            <a:pPr marL="0" indent="0">
              <a:buNone/>
            </a:pPr>
            <a:r>
              <a:rPr lang="en-US" dirty="0">
                <a:latin typeface="Times New Roman" panose="02020603050405020304" pitchFamily="18" charset="0"/>
                <a:cs typeface="Times New Roman" panose="02020603050405020304" pitchFamily="18" charset="0"/>
              </a:rPr>
              <a:t> 9. Model Evaluation</a:t>
            </a:r>
          </a:p>
          <a:p>
            <a:pPr marL="0" indent="0">
              <a:buNone/>
            </a:pPr>
            <a:r>
              <a:rPr lang="en-US" dirty="0">
                <a:latin typeface="Times New Roman" panose="02020603050405020304" pitchFamily="18" charset="0"/>
                <a:cs typeface="Times New Roman" panose="02020603050405020304" pitchFamily="18" charset="0"/>
              </a:rPr>
              <a:t>10.Suggestions</a:t>
            </a:r>
          </a:p>
          <a:p>
            <a:pPr marL="0" indent="0">
              <a:buNone/>
            </a:pPr>
            <a:r>
              <a:rPr lang="en-US" dirty="0">
                <a:latin typeface="Times New Roman" panose="02020603050405020304" pitchFamily="18" charset="0"/>
                <a:cs typeface="Times New Roman" panose="02020603050405020304" pitchFamily="18" charset="0"/>
              </a:rPr>
              <a:t>11.Future Scope</a:t>
            </a:r>
          </a:p>
          <a:p>
            <a:pPr marL="0" indent="0">
              <a:buNone/>
            </a:pPr>
            <a:r>
              <a:rPr lang="en-US" dirty="0">
                <a:latin typeface="Times New Roman" panose="02020603050405020304" pitchFamily="18" charset="0"/>
                <a:cs typeface="Times New Roman" panose="02020603050405020304" pitchFamily="18" charset="0"/>
              </a:rPr>
              <a:t>12.Conclusion</a:t>
            </a:r>
          </a:p>
          <a:p>
            <a:pPr marL="0" indent="0">
              <a:buNone/>
            </a:pPr>
            <a:r>
              <a:rPr lang="en-US" dirty="0">
                <a:latin typeface="Times New Roman" panose="02020603050405020304" pitchFamily="18" charset="0"/>
                <a:cs typeface="Times New Roman" panose="02020603050405020304" pitchFamily="18" charset="0"/>
              </a:rPr>
              <a:t>13.References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4103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16CFA-993E-9D60-683D-93DAB6AC3947}"/>
              </a:ext>
            </a:extLst>
          </p:cNvPr>
          <p:cNvSpPr>
            <a:spLocks noGrp="1"/>
          </p:cNvSpPr>
          <p:nvPr>
            <p:ph type="ctrTitle"/>
          </p:nvPr>
        </p:nvSpPr>
        <p:spPr>
          <a:xfrm>
            <a:off x="1691148" y="772387"/>
            <a:ext cx="8809705" cy="659942"/>
          </a:xfrm>
        </p:spPr>
        <p:txBody>
          <a:bodyPr>
            <a:normAutofit/>
          </a:bodyPr>
          <a:lstStyle/>
          <a:p>
            <a:r>
              <a:rPr lang="en-IN" sz="4000" dirty="0"/>
              <a:t>ABSTRACT</a:t>
            </a:r>
          </a:p>
        </p:txBody>
      </p:sp>
      <p:sp>
        <p:nvSpPr>
          <p:cNvPr id="3" name="Subtitle 2">
            <a:extLst>
              <a:ext uri="{FF2B5EF4-FFF2-40B4-BE49-F238E27FC236}">
                <a16:creationId xmlns:a16="http://schemas.microsoft.com/office/drawing/2014/main" id="{E7617601-F292-5C4F-BDC2-5FDE08CAA23D}"/>
              </a:ext>
            </a:extLst>
          </p:cNvPr>
          <p:cNvSpPr>
            <a:spLocks noGrp="1"/>
          </p:cNvSpPr>
          <p:nvPr>
            <p:ph type="subTitle" idx="1"/>
          </p:nvPr>
        </p:nvSpPr>
        <p:spPr>
          <a:xfrm>
            <a:off x="589934" y="1584656"/>
            <a:ext cx="5358581" cy="3352800"/>
          </a:xfrm>
        </p:spPr>
        <p:txBody>
          <a:bodyPr>
            <a:noAutofit/>
          </a:bodyPr>
          <a:lstStyle/>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Parkinson’s Disease (PD) is a chronic, progressive neurodegenerative disorder affecting about 1% of people over 60, with both motor and non-motor symptoms.</a:t>
            </a:r>
            <a:endParaRPr lang="en-IN" sz="18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study aims to develop a machine learning model to predict PD severity levels (Mild, Moderate, Severe) using clinical variables based on UPDRS criteria.</a:t>
            </a:r>
            <a:endParaRPr lang="en-IN" sz="18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model was trained on 2,105 patient samples with 31 variables, including demographic, vital, lifestyle, and motor symptom data.</a:t>
            </a:r>
            <a:r>
              <a:rPr lang="en-IN" sz="1800" dirty="0">
                <a:solidFill>
                  <a:schemeClr val="tx1"/>
                </a:solidFill>
                <a:latin typeface="Times New Roman" panose="02020603050405020304" pitchFamily="18" charset="0"/>
                <a:cs typeface="Times New Roman" panose="02020603050405020304" pitchFamily="18" charset="0"/>
              </a:rPr>
              <a:t>.</a:t>
            </a:r>
          </a:p>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ensemble model achieved 51.4% overall accuracy, 94% recall for severe cases, and 100% accuracy for well-defined patients.</a:t>
            </a:r>
            <a:endParaRPr lang="en-IN" sz="18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model is interpretable using feature importance and includes a user-friendly graphical interface, making it useful as a clinical decision support system for PD management</a:t>
            </a:r>
            <a:r>
              <a:rPr lang="en-IN" sz="1800" dirty="0">
                <a:solidFill>
                  <a:schemeClr val="tx1"/>
                </a:solidFill>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4AE2940D-11FC-F2D9-2FF7-287DF1156A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6606" y="2123768"/>
            <a:ext cx="4830483" cy="3618271"/>
          </a:xfrm>
          <a:prstGeom prst="rect">
            <a:avLst/>
          </a:prstGeom>
        </p:spPr>
      </p:pic>
    </p:spTree>
    <p:extLst>
      <p:ext uri="{BB962C8B-B14F-4D97-AF65-F5344CB8AC3E}">
        <p14:creationId xmlns:p14="http://schemas.microsoft.com/office/powerpoint/2010/main" val="4023844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C25D3-38DF-F892-DE1E-D72A78A25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6B166-F622-E95B-F8B0-26BD1885B506}"/>
              </a:ext>
            </a:extLst>
          </p:cNvPr>
          <p:cNvSpPr>
            <a:spLocks noGrp="1"/>
          </p:cNvSpPr>
          <p:nvPr>
            <p:ph type="ctrTitle"/>
          </p:nvPr>
        </p:nvSpPr>
        <p:spPr>
          <a:xfrm>
            <a:off x="3731342" y="806969"/>
            <a:ext cx="4729316" cy="471225"/>
          </a:xfrm>
        </p:spPr>
        <p:txBody>
          <a:bodyPr>
            <a:normAutofit fontScale="90000"/>
          </a:bodyPr>
          <a:lstStyle/>
          <a:p>
            <a:r>
              <a:rPr lang="en-IN" sz="4000" dirty="0"/>
              <a:t>PROBLEM STATEMENT</a:t>
            </a:r>
          </a:p>
        </p:txBody>
      </p:sp>
      <p:sp>
        <p:nvSpPr>
          <p:cNvPr id="5" name="Rectangle 1">
            <a:extLst>
              <a:ext uri="{FF2B5EF4-FFF2-40B4-BE49-F238E27FC236}">
                <a16:creationId xmlns:a16="http://schemas.microsoft.com/office/drawing/2014/main" id="{5E562FD8-5FBD-9BA1-B783-157B5CD22BC6}"/>
              </a:ext>
            </a:extLst>
          </p:cNvPr>
          <p:cNvSpPr>
            <a:spLocks noGrp="1" noChangeArrowheads="1"/>
          </p:cNvSpPr>
          <p:nvPr>
            <p:ph type="subTitle" idx="1"/>
          </p:nvPr>
        </p:nvSpPr>
        <p:spPr bwMode="auto">
          <a:xfrm>
            <a:off x="570271" y="1379132"/>
            <a:ext cx="5987845"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Parkinson’s Disease severity is traditionally evaluated using UPDRS, which requires expert clinical assessment and may delay timely treatment decisions.</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Most existing machine learning models focus only on binary classification (PD vs. Healthy) rather than predicting multiple severity levels (Mild, Moderate, Severe).</a:t>
            </a: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There is significant symptom overlap between mild and moderate cases, making accurate multi-class classification challenging.</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Medical datasets often contain more severe cases than mild/moderate ones, leading to biased model predictions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00000"/>
              </a:lnSpc>
              <a:spcBef>
                <a:spcPct val="0"/>
              </a:spcBef>
              <a:spcAft>
                <a:spcPct val="0"/>
              </a:spcAft>
              <a:buFontTx/>
              <a:buChar char="•"/>
            </a:pPr>
            <a:r>
              <a:rPr lang="en-US" sz="1800" dirty="0">
                <a:latin typeface="Times New Roman" panose="02020603050405020304" pitchFamily="18" charset="0"/>
                <a:cs typeface="Times New Roman" panose="02020603050405020304" pitchFamily="18" charset="0"/>
              </a:rPr>
              <a:t>Many AI models lack transparency, making it difficult for doctors to trust and apply them in real-world clinical decision-making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pic>
        <p:nvPicPr>
          <p:cNvPr id="9" name="Picture 8">
            <a:extLst>
              <a:ext uri="{FF2B5EF4-FFF2-40B4-BE49-F238E27FC236}">
                <a16:creationId xmlns:a16="http://schemas.microsoft.com/office/drawing/2014/main" id="{CBCD95AD-98D1-9E81-5E66-BBD5D772A1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2413" y="1893322"/>
            <a:ext cx="3962810" cy="4157709"/>
          </a:xfrm>
          <a:prstGeom prst="rect">
            <a:avLst/>
          </a:prstGeom>
        </p:spPr>
      </p:pic>
    </p:spTree>
    <p:extLst>
      <p:ext uri="{BB962C8B-B14F-4D97-AF65-F5344CB8AC3E}">
        <p14:creationId xmlns:p14="http://schemas.microsoft.com/office/powerpoint/2010/main" val="2194258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6C98-A42E-A38B-E6EF-F73998116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AECF4-9239-9238-2339-84510C1CC928}"/>
              </a:ext>
            </a:extLst>
          </p:cNvPr>
          <p:cNvSpPr>
            <a:spLocks noGrp="1"/>
          </p:cNvSpPr>
          <p:nvPr>
            <p:ph type="ctrTitle"/>
          </p:nvPr>
        </p:nvSpPr>
        <p:spPr>
          <a:xfrm>
            <a:off x="2310581" y="940258"/>
            <a:ext cx="7570839" cy="659942"/>
          </a:xfrm>
        </p:spPr>
        <p:txBody>
          <a:bodyPr>
            <a:normAutofit/>
          </a:bodyPr>
          <a:lstStyle/>
          <a:p>
            <a:r>
              <a:rPr lang="en-IN" sz="4000" dirty="0"/>
              <a:t>         OBJECTIVES</a:t>
            </a:r>
          </a:p>
        </p:txBody>
      </p:sp>
      <p:sp>
        <p:nvSpPr>
          <p:cNvPr id="3" name="Subtitle 2">
            <a:extLst>
              <a:ext uri="{FF2B5EF4-FFF2-40B4-BE49-F238E27FC236}">
                <a16:creationId xmlns:a16="http://schemas.microsoft.com/office/drawing/2014/main" id="{DF43E971-D20A-9BAF-12E3-992CBA370B21}"/>
              </a:ext>
            </a:extLst>
          </p:cNvPr>
          <p:cNvSpPr>
            <a:spLocks noGrp="1"/>
          </p:cNvSpPr>
          <p:nvPr>
            <p:ph type="subTitle" idx="1"/>
          </p:nvPr>
        </p:nvSpPr>
        <p:spPr>
          <a:xfrm>
            <a:off x="1396181" y="1816834"/>
            <a:ext cx="9399639" cy="4678095"/>
          </a:xfrm>
        </p:spPr>
        <p:txBody>
          <a:bodyPr>
            <a:noAutofit/>
          </a:bodyPr>
          <a:lstStyle/>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develop a multi-class machine learning model that predicts Parkinson’s Disease severity levels (Mild, Moderate, Severe) based on UPDRS criteria.</a:t>
            </a:r>
            <a:endParaRPr lang="en-US" sz="18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build an ensemble-based classification system by integrating Random Forest, Logistic Regression, and Gradient Boosting for improved predictive performance.</a:t>
            </a:r>
            <a:endParaRPr lang="en-US" sz="18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handle class imbalance effectively using techniques like SMOTE and class weighting to ensure fair prediction across all severity levels.</a:t>
            </a:r>
            <a:endParaRPr lang="en-US" sz="18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1800" dirty="0"/>
              <a:t>To perform optimized feature selection using Recursive Feature Elimination (RFE) to identify the most influential clinical factors affecting PD severity.</a:t>
            </a:r>
            <a:endParaRPr lang="en-US" sz="18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ensure model interpretability through feature importance analysis so that clinicians can understand the reasoning behind predictions.</a:t>
            </a:r>
          </a:p>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design a user-friendly graphical interface (GUI) for practical clinical application as a decision support tool.</a:t>
            </a:r>
          </a:p>
          <a:p>
            <a:pPr marL="342900" indent="-342900" algn="just">
              <a:buClr>
                <a:schemeClr val="tx1"/>
              </a:buCl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validate the model’s reliability using cross-validation and multiple evaluation metrics such as accuracy, precision, recall, and F1-score.</a:t>
            </a:r>
          </a:p>
          <a:p>
            <a:pPr marL="342900" indent="-342900" algn="just">
              <a:buClr>
                <a:schemeClr val="tx1"/>
              </a:buClr>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5361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FDF85-E686-ACEB-8BC0-0765E1E90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C92E6F-CC37-F2A1-8F60-4444AB2A09A7}"/>
              </a:ext>
            </a:extLst>
          </p:cNvPr>
          <p:cNvSpPr>
            <a:spLocks noGrp="1"/>
          </p:cNvSpPr>
          <p:nvPr>
            <p:ph type="ctrTitle"/>
          </p:nvPr>
        </p:nvSpPr>
        <p:spPr>
          <a:xfrm>
            <a:off x="2467897" y="940258"/>
            <a:ext cx="7256206" cy="659942"/>
          </a:xfrm>
        </p:spPr>
        <p:txBody>
          <a:bodyPr>
            <a:normAutofit/>
          </a:bodyPr>
          <a:lstStyle/>
          <a:p>
            <a:r>
              <a:rPr lang="en-IN" sz="4000" dirty="0"/>
              <a:t>          LITERATURE REVIEW</a:t>
            </a:r>
          </a:p>
        </p:txBody>
      </p:sp>
      <p:sp>
        <p:nvSpPr>
          <p:cNvPr id="3" name="Subtitle 2">
            <a:extLst>
              <a:ext uri="{FF2B5EF4-FFF2-40B4-BE49-F238E27FC236}">
                <a16:creationId xmlns:a16="http://schemas.microsoft.com/office/drawing/2014/main" id="{979821CF-4D86-D9CD-A768-04E26BA632DF}"/>
              </a:ext>
            </a:extLst>
          </p:cNvPr>
          <p:cNvSpPr>
            <a:spLocks noGrp="1"/>
          </p:cNvSpPr>
          <p:nvPr>
            <p:ph type="subTitle" idx="1"/>
          </p:nvPr>
        </p:nvSpPr>
        <p:spPr>
          <a:xfrm>
            <a:off x="1042220" y="1890793"/>
            <a:ext cx="10107561" cy="4550348"/>
          </a:xfrm>
        </p:spPr>
        <p:txBody>
          <a:bodyPr>
            <a:normAutofit fontScale="92500" lnSpcReduction="10000"/>
          </a:bodyPr>
          <a:lstStyle/>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Most previous studies on Parkinson’s Disease focused on binary classification (PD vs. Healthy). Speech-based models achieved about 86% accuracy, and gait-based models achieved around 84%. However, these approaches do not address multi-level severity prediction.</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Some deep learning approaches attempted three-level severity classification and achieved around 72% accuracy, but they relied on specialized sensors and complex data collection methods, limiting real-world clinical applicability.</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Ensemble methods such as Random Forest and Gradient Boosting have shown strong performance in medical prediction tasks due to their ability to handle nonlinear relationships and improve robustness.</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Medical datasets are often imbalanced. Techniques like SMOTE (Synthetic Minority Over-sampling Technique) have been successfully applied in various healthcare prediction problems to improve minority class detection.</a:t>
            </a:r>
          </a:p>
          <a:p>
            <a:pPr marL="342900" indent="-342900" algn="just">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Feature selection techniques like Recursive Feature Elimination (RFE) and LASSO help identify important clinical biomarkers and reduce model complexity while improving performance.</a:t>
            </a:r>
          </a:p>
          <a:p>
            <a:pPr marL="342900" indent="-342900" algn="just">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endParaRPr lang="en-US" dirty="0">
              <a:solidFill>
                <a:schemeClr val="tx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lgn="l">
              <a:buClr>
                <a:schemeClr val="tx1"/>
              </a:buClr>
              <a:buFont typeface="Arial" panose="020B0604020202020204" pitchFamily="34" charset="0"/>
              <a:buChar char="•"/>
            </a:pPr>
            <a:endParaRPr lang="en-IN" dirty="0"/>
          </a:p>
        </p:txBody>
      </p:sp>
    </p:spTree>
    <p:extLst>
      <p:ext uri="{BB962C8B-B14F-4D97-AF65-F5344CB8AC3E}">
        <p14:creationId xmlns:p14="http://schemas.microsoft.com/office/powerpoint/2010/main" val="2287765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682F4-BEE4-EB7A-DCA4-CEE6D9300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907BFC-AF78-6E4F-815A-426A0FA4040A}"/>
              </a:ext>
            </a:extLst>
          </p:cNvPr>
          <p:cNvSpPr>
            <a:spLocks noGrp="1"/>
          </p:cNvSpPr>
          <p:nvPr>
            <p:ph type="ctrTitle"/>
          </p:nvPr>
        </p:nvSpPr>
        <p:spPr>
          <a:xfrm>
            <a:off x="1524000" y="940258"/>
            <a:ext cx="9144000" cy="659942"/>
          </a:xfrm>
        </p:spPr>
        <p:txBody>
          <a:bodyPr>
            <a:normAutofit/>
          </a:bodyPr>
          <a:lstStyle/>
          <a:p>
            <a:r>
              <a:rPr lang="en-IN" sz="4000" dirty="0"/>
              <a:t>TOOLS,TECHNOLOGY AND DATASET</a:t>
            </a:r>
          </a:p>
        </p:txBody>
      </p:sp>
      <p:sp>
        <p:nvSpPr>
          <p:cNvPr id="3" name="Subtitle 2">
            <a:extLst>
              <a:ext uri="{FF2B5EF4-FFF2-40B4-BE49-F238E27FC236}">
                <a16:creationId xmlns:a16="http://schemas.microsoft.com/office/drawing/2014/main" id="{D2B5F08A-598D-8421-D1EF-03C8CD3B8418}"/>
              </a:ext>
            </a:extLst>
          </p:cNvPr>
          <p:cNvSpPr>
            <a:spLocks noGrp="1"/>
          </p:cNvSpPr>
          <p:nvPr>
            <p:ph type="subTitle" idx="1"/>
          </p:nvPr>
        </p:nvSpPr>
        <p:spPr>
          <a:xfrm>
            <a:off x="1587910" y="1890793"/>
            <a:ext cx="9016181" cy="3367007"/>
          </a:xfrm>
        </p:spPr>
        <p:txBody>
          <a:bodyPr>
            <a:normAutofit lnSpcReduction="10000"/>
          </a:bodyPr>
          <a:lstStyle/>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Python used for data processing and machine learning model development</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Key libraries: Pandas, NumPy, Scikit-learn, Imbalanced-learn (SMOTE)</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Model optimization techniques: RFE, Bayesian Optimization, Stratified K-Fold Cross-Validation</a:t>
            </a:r>
            <a:endParaRPr lang="en-US" sz="20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Ensemble algorithms: Random Forest, Logistic Regression, Gradient Boosting</a:t>
            </a:r>
            <a:endParaRPr lang="en-IN" sz="2000" dirty="0">
              <a:solidFill>
                <a:schemeClr val="tx1"/>
              </a:solidFill>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Visualization and interface tools: Matplotlib, Seaborn, </a:t>
            </a:r>
            <a:r>
              <a:rPr lang="en-US" sz="2000" dirty="0" err="1">
                <a:latin typeface="Times New Roman" panose="02020603050405020304" pitchFamily="18" charset="0"/>
                <a:cs typeface="Times New Roman" panose="02020603050405020304" pitchFamily="18" charset="0"/>
              </a:rPr>
              <a:t>Tkinter</a:t>
            </a:r>
            <a:r>
              <a:rPr lang="en-US" sz="2000" dirty="0">
                <a:latin typeface="Times New Roman" panose="02020603050405020304" pitchFamily="18" charset="0"/>
                <a:cs typeface="Times New Roman" panose="02020603050405020304" pitchFamily="18" charset="0"/>
              </a:rPr>
              <a:t> (GUI development), </a:t>
            </a:r>
            <a:r>
              <a:rPr lang="en-US" sz="2000" dirty="0" err="1">
                <a:latin typeface="Times New Roman" panose="02020603050405020304" pitchFamily="18" charset="0"/>
                <a:cs typeface="Times New Roman" panose="02020603050405020304" pitchFamily="18" charset="0"/>
              </a:rPr>
              <a:t>Joblib</a:t>
            </a:r>
            <a:r>
              <a:rPr lang="en-US" sz="2000" dirty="0">
                <a:latin typeface="Times New Roman" panose="02020603050405020304" pitchFamily="18" charset="0"/>
                <a:cs typeface="Times New Roman" panose="02020603050405020304" pitchFamily="18" charset="0"/>
              </a:rPr>
              <a:t> (model saving/loading)</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Dataset: Structured clinical Parkinson’s Disease dataset (2,105 patient records, 31 variables based on UPDRS criteria)</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split into training (80%) and testing (20%) for model evaluation</a:t>
            </a: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13817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F470B-692B-9032-585C-B8E5B1FD6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D19D8-ED64-B189-D54B-9EA795D0CEEF}"/>
              </a:ext>
            </a:extLst>
          </p:cNvPr>
          <p:cNvSpPr>
            <a:spLocks noGrp="1"/>
          </p:cNvSpPr>
          <p:nvPr>
            <p:ph type="ctrTitle"/>
          </p:nvPr>
        </p:nvSpPr>
        <p:spPr>
          <a:xfrm>
            <a:off x="1524000" y="173776"/>
            <a:ext cx="9144000" cy="659942"/>
          </a:xfrm>
        </p:spPr>
        <p:txBody>
          <a:bodyPr>
            <a:normAutofit/>
          </a:bodyPr>
          <a:lstStyle/>
          <a:p>
            <a:r>
              <a:rPr lang="en-IN" sz="4000" dirty="0"/>
              <a:t>METHODOLOGY &amp; ARCHITECTURE</a:t>
            </a:r>
          </a:p>
        </p:txBody>
      </p:sp>
      <p:sp>
        <p:nvSpPr>
          <p:cNvPr id="3" name="Subtitle 2">
            <a:extLst>
              <a:ext uri="{FF2B5EF4-FFF2-40B4-BE49-F238E27FC236}">
                <a16:creationId xmlns:a16="http://schemas.microsoft.com/office/drawing/2014/main" id="{FEAE9CA8-B250-6281-3741-D62406617267}"/>
              </a:ext>
            </a:extLst>
          </p:cNvPr>
          <p:cNvSpPr>
            <a:spLocks noGrp="1"/>
          </p:cNvSpPr>
          <p:nvPr>
            <p:ph type="subTitle" idx="1"/>
          </p:nvPr>
        </p:nvSpPr>
        <p:spPr>
          <a:xfrm>
            <a:off x="537883" y="1033815"/>
            <a:ext cx="4886631" cy="6032614"/>
          </a:xfrm>
        </p:spPr>
        <p:txBody>
          <a:bodyPr>
            <a:noAutofit/>
          </a:bodyPr>
          <a:lstStyle/>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Collect structured clinical Parkinson’s dataset (2,105 records, 31 variables).</a:t>
            </a:r>
            <a:endParaRPr lang="en-IN" sz="20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Preprocess data (missing value imputation, encoding, scaling) and categorize UPDRS into Mild, Moderate, Severe.</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Balance classes using SMOTE and apply feature selection using RFE.</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Train a weighted ensemble model (Random Forest + Logistic Regression + Gradient Boosting) with hyperparameter tuning.</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Predict PD severity level and evaluate using Accuracy, Precision, Recall, F1-score, and Confusion Matrix.</a:t>
            </a:r>
          </a:p>
          <a:p>
            <a:pPr marL="342900" indent="-342900" algn="just">
              <a:buClr>
                <a:schemeClr val="tx1"/>
              </a:buClr>
              <a:buFont typeface="Arial" panose="020B0604020202020204" pitchFamily="34" charset="0"/>
              <a:buChar char="•"/>
            </a:pPr>
            <a:r>
              <a:rPr lang="en-US" sz="2000" b="1" dirty="0"/>
              <a:t>Architecture (Simple Flow):</a:t>
            </a:r>
            <a:br>
              <a:rPr lang="en-US" sz="2000" dirty="0"/>
            </a:br>
            <a:r>
              <a:rPr lang="en-US" sz="2000" dirty="0"/>
              <a:t>Dataset → Preprocessing → SMOTE + Feature Selection → Ensemble Model → Severity Prediction → Evaluation</a:t>
            </a:r>
            <a:endParaRPr lang="en-US" sz="20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D1717E6-CD3F-4E09-0F7C-A1B30A8705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946579"/>
            <a:ext cx="5304158" cy="5798156"/>
          </a:xfrm>
          <a:prstGeom prst="rect">
            <a:avLst/>
          </a:prstGeom>
        </p:spPr>
      </p:pic>
    </p:spTree>
    <p:extLst>
      <p:ext uri="{BB962C8B-B14F-4D97-AF65-F5344CB8AC3E}">
        <p14:creationId xmlns:p14="http://schemas.microsoft.com/office/powerpoint/2010/main" val="2726694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32061-F6C9-69FF-0B3A-E9204A59F0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9D18B-FA33-CB3F-6885-2089CEC72F12}"/>
              </a:ext>
            </a:extLst>
          </p:cNvPr>
          <p:cNvSpPr>
            <a:spLocks noGrp="1"/>
          </p:cNvSpPr>
          <p:nvPr>
            <p:ph type="ctrTitle"/>
          </p:nvPr>
        </p:nvSpPr>
        <p:spPr>
          <a:xfrm>
            <a:off x="1524000" y="316007"/>
            <a:ext cx="9144000" cy="659942"/>
          </a:xfrm>
        </p:spPr>
        <p:txBody>
          <a:bodyPr>
            <a:normAutofit/>
          </a:bodyPr>
          <a:lstStyle/>
          <a:p>
            <a:r>
              <a:rPr lang="en-IN" sz="4000" dirty="0"/>
              <a:t>INPUTS &amp; OUTPUTS</a:t>
            </a:r>
          </a:p>
        </p:txBody>
      </p:sp>
      <p:sp>
        <p:nvSpPr>
          <p:cNvPr id="3" name="Subtitle 2">
            <a:extLst>
              <a:ext uri="{FF2B5EF4-FFF2-40B4-BE49-F238E27FC236}">
                <a16:creationId xmlns:a16="http://schemas.microsoft.com/office/drawing/2014/main" id="{3FDA6DE6-85F8-B0A2-8745-83057D150E2D}"/>
              </a:ext>
            </a:extLst>
          </p:cNvPr>
          <p:cNvSpPr>
            <a:spLocks noGrp="1"/>
          </p:cNvSpPr>
          <p:nvPr>
            <p:ph type="subTitle" idx="1"/>
          </p:nvPr>
        </p:nvSpPr>
        <p:spPr>
          <a:xfrm>
            <a:off x="1848465" y="1204992"/>
            <a:ext cx="8495071" cy="5337001"/>
          </a:xfrm>
        </p:spPr>
        <p:txBody>
          <a:bodyPr>
            <a:noAutofit/>
          </a:bodyPr>
          <a:lstStyle/>
          <a:p>
            <a:pPr algn="just">
              <a:buClr>
                <a:schemeClr val="tx1"/>
              </a:buClr>
            </a:pPr>
            <a:r>
              <a:rPr lang="en-US" sz="2000" b="1" dirty="0">
                <a:latin typeface="Times New Roman" panose="02020603050405020304" pitchFamily="18" charset="0"/>
                <a:cs typeface="Times New Roman" panose="02020603050405020304" pitchFamily="18" charset="0"/>
              </a:rPr>
              <a:t>Inputs:</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Clinical and patient health parameters.</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Total of 31 features used for prediction.</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Examples: Age, BMI, Blood Pressure, Cholesterol levels, MoCA score, Functional assessment, Tremor, Rigidity, Bradykinesia, Sleep quality, Physical activity, Alcohol consumption, Family history, etc.</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 provides values through a graphical user interface (GUI) or clinical data entry system.</a:t>
            </a:r>
          </a:p>
          <a:p>
            <a:pPr algn="just">
              <a:buClr>
                <a:schemeClr val="tx1"/>
              </a:buClr>
            </a:pPr>
            <a:r>
              <a:rPr lang="en-US" sz="2000" b="1" dirty="0">
                <a:latin typeface="Times New Roman" panose="02020603050405020304" pitchFamily="18" charset="0"/>
                <a:cs typeface="Times New Roman" panose="02020603050405020304" pitchFamily="18" charset="0"/>
              </a:rPr>
              <a:t>Outputs:</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Predicted Parkinson’s Disease severity level (Mild / Moderate / Severe).</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Probability scores for each severity class.</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Identification of high-risk (Severe) cases.</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Feature importance insights explaining key influencing factors.</a:t>
            </a:r>
          </a:p>
          <a:p>
            <a:pPr marL="342900" indent="-342900" algn="just">
              <a:buClr>
                <a:schemeClr val="tx1"/>
              </a:buCl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Clinical support suggestions for monitoring and treatment planning.</a:t>
            </a:r>
            <a:br>
              <a:rPr lang="en-US" sz="2000" dirty="0"/>
            </a:b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0229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215BD-D4EC-CFD0-0C6C-32379D648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447C8-2750-9A59-09C4-E8A026C1238A}"/>
              </a:ext>
            </a:extLst>
          </p:cNvPr>
          <p:cNvSpPr>
            <a:spLocks noGrp="1"/>
          </p:cNvSpPr>
          <p:nvPr>
            <p:ph type="ctrTitle"/>
          </p:nvPr>
        </p:nvSpPr>
        <p:spPr>
          <a:xfrm>
            <a:off x="1524000" y="807570"/>
            <a:ext cx="9144000" cy="659942"/>
          </a:xfrm>
        </p:spPr>
        <p:txBody>
          <a:bodyPr>
            <a:normAutofit/>
          </a:bodyPr>
          <a:lstStyle/>
          <a:p>
            <a:r>
              <a:rPr lang="en-IN" sz="4000" dirty="0"/>
              <a:t>MACHINE LEARNING ALGORITHMS USED</a:t>
            </a:r>
          </a:p>
        </p:txBody>
      </p:sp>
      <p:sp>
        <p:nvSpPr>
          <p:cNvPr id="3" name="Subtitle 2">
            <a:extLst>
              <a:ext uri="{FF2B5EF4-FFF2-40B4-BE49-F238E27FC236}">
                <a16:creationId xmlns:a16="http://schemas.microsoft.com/office/drawing/2014/main" id="{05DB6055-7E82-391A-540A-202BEE7AF65F}"/>
              </a:ext>
            </a:extLst>
          </p:cNvPr>
          <p:cNvSpPr>
            <a:spLocks noGrp="1"/>
          </p:cNvSpPr>
          <p:nvPr>
            <p:ph type="subTitle" idx="1"/>
          </p:nvPr>
        </p:nvSpPr>
        <p:spPr>
          <a:xfrm>
            <a:off x="1735394" y="1272229"/>
            <a:ext cx="8721213" cy="5404236"/>
          </a:xfrm>
        </p:spPr>
        <p:txBody>
          <a:bodyPr>
            <a:noAutofit/>
          </a:bodyPr>
          <a:lstStyle/>
          <a:p>
            <a:pPr algn="just">
              <a:buClr>
                <a:schemeClr val="tx1"/>
              </a:buClr>
            </a:pPr>
            <a:endParaRPr lang="en-IN" sz="2800" dirty="0"/>
          </a:p>
          <a:p>
            <a:pPr marL="342900" indent="-342900" algn="just">
              <a:buClr>
                <a:schemeClr val="tx1"/>
              </a:buCl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Random Forest Classifier</a:t>
            </a:r>
            <a:endParaRPr lang="en-IN" sz="28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Logistic Regression (Multinomial)</a:t>
            </a:r>
            <a:endParaRPr lang="en-IN" sz="28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Gradient Boosting Classifier</a:t>
            </a:r>
            <a:endParaRPr lang="en-IN" sz="28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Weighted Soft-Voting Ensemble (combination of the above three models)</a:t>
            </a:r>
            <a:endParaRPr lang="en-IN" sz="2800" dirty="0">
              <a:latin typeface="Times New Roman" panose="02020603050405020304" pitchFamily="18" charset="0"/>
              <a:cs typeface="Times New Roman" panose="02020603050405020304" pitchFamily="18" charset="0"/>
            </a:endParaRPr>
          </a:p>
          <a:p>
            <a:pPr marL="342900" indent="-342900" algn="just">
              <a:buClr>
                <a:schemeClr val="tx1"/>
              </a:buCl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Recursive Feature Elimination (RFE) – for feature selection</a:t>
            </a:r>
          </a:p>
          <a:p>
            <a:pPr marL="342900" indent="-342900" algn="just">
              <a:buClr>
                <a:schemeClr val="tx1"/>
              </a:buClr>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SMOTE (Synthetic Minority Over-sampling Technique) – for class balancing</a:t>
            </a:r>
          </a:p>
          <a:p>
            <a:pPr marL="342900" indent="-342900" algn="just">
              <a:buClr>
                <a:schemeClr val="tx1"/>
              </a:buClr>
              <a:buFont typeface="Arial" panose="020B0604020202020204" pitchFamily="34" charset="0"/>
              <a:buChar char="•"/>
            </a:pPr>
            <a:r>
              <a:rPr lang="en-US" sz="2800" dirty="0"/>
              <a:t>Bayesian Optimization – for hyperparameter tuning</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438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51465-B2CB-7CE6-F8DF-55194D1BD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9B1AB-6386-1A40-661A-F73E6414F6D0}"/>
              </a:ext>
            </a:extLst>
          </p:cNvPr>
          <p:cNvSpPr>
            <a:spLocks noGrp="1"/>
          </p:cNvSpPr>
          <p:nvPr>
            <p:ph type="ctrTitle"/>
          </p:nvPr>
        </p:nvSpPr>
        <p:spPr>
          <a:xfrm>
            <a:off x="1524000" y="397026"/>
            <a:ext cx="9144000" cy="659942"/>
          </a:xfrm>
        </p:spPr>
        <p:txBody>
          <a:bodyPr>
            <a:normAutofit/>
          </a:bodyPr>
          <a:lstStyle/>
          <a:p>
            <a:r>
              <a:rPr lang="en-IN" sz="4000" dirty="0"/>
              <a:t>MODEL EVALUATION</a:t>
            </a:r>
          </a:p>
        </p:txBody>
      </p:sp>
      <p:sp>
        <p:nvSpPr>
          <p:cNvPr id="3" name="Subtitle 2">
            <a:extLst>
              <a:ext uri="{FF2B5EF4-FFF2-40B4-BE49-F238E27FC236}">
                <a16:creationId xmlns:a16="http://schemas.microsoft.com/office/drawing/2014/main" id="{EBC93C1D-62A7-C2D1-1A04-D599C05CC5C9}"/>
              </a:ext>
            </a:extLst>
          </p:cNvPr>
          <p:cNvSpPr>
            <a:spLocks noGrp="1"/>
          </p:cNvSpPr>
          <p:nvPr>
            <p:ph type="subTitle" idx="1"/>
          </p:nvPr>
        </p:nvSpPr>
        <p:spPr>
          <a:xfrm>
            <a:off x="456911" y="1282098"/>
            <a:ext cx="6282488" cy="4923720"/>
          </a:xfrm>
        </p:spPr>
        <p:txBody>
          <a:bodyPr>
            <a:normAutofit/>
          </a:bodyPr>
          <a:lstStyle/>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Split: Training = 80% and Testing = 20%.</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Cross-validation = 10-fold Stratified Cross-Validation.</a:t>
            </a:r>
          </a:p>
          <a:p>
            <a:pPr algn="just"/>
            <a:r>
              <a:rPr lang="en-US" dirty="0">
                <a:latin typeface="Times New Roman" panose="02020603050405020304" pitchFamily="18" charset="0"/>
                <a:cs typeface="Times New Roman" panose="02020603050405020304" pitchFamily="18" charset="0"/>
              </a:rPr>
              <a:t>Metrics Used: Accuracy, Precision, Recall, F1-Score, Confusion Matrix.</a:t>
            </a:r>
          </a:p>
          <a:p>
            <a:pPr algn="just"/>
            <a:r>
              <a:rPr lang="en-US" dirty="0">
                <a:latin typeface="Times New Roman" panose="02020603050405020304" pitchFamily="18" charset="0"/>
                <a:cs typeface="Times New Roman" panose="02020603050405020304" pitchFamily="18" charset="0"/>
              </a:rPr>
              <a:t>Results:</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Overall Accuracy: 51.4%</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10-fold CV Accuracy: 49.2% +/- 2.3%</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Severe Class Recall: 94%</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Macro F1-Score: 0.46</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Weighted F1-Score: 0.45</a:t>
            </a:r>
          </a:p>
          <a:p>
            <a:pPr algn="just"/>
            <a:endParaRPr lang="en-US"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32D84193-2FFC-825F-6FE1-356E7E0E7B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1276" y="1056968"/>
            <a:ext cx="5062818" cy="5404005"/>
          </a:xfrm>
          <a:prstGeom prst="rect">
            <a:avLst/>
          </a:prstGeom>
        </p:spPr>
      </p:pic>
    </p:spTree>
    <p:extLst>
      <p:ext uri="{BB962C8B-B14F-4D97-AF65-F5344CB8AC3E}">
        <p14:creationId xmlns:p14="http://schemas.microsoft.com/office/powerpoint/2010/main" val="3369186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230D6-7CD1-7EC5-2198-27E99E3D1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EC26A-06DE-D327-D244-2921CF82B61C}"/>
              </a:ext>
            </a:extLst>
          </p:cNvPr>
          <p:cNvSpPr>
            <a:spLocks noGrp="1"/>
          </p:cNvSpPr>
          <p:nvPr>
            <p:ph type="ctrTitle"/>
          </p:nvPr>
        </p:nvSpPr>
        <p:spPr>
          <a:xfrm>
            <a:off x="4630271" y="954742"/>
            <a:ext cx="2931459" cy="510771"/>
          </a:xfrm>
        </p:spPr>
        <p:txBody>
          <a:bodyPr>
            <a:normAutofit fontScale="90000"/>
          </a:bodyPr>
          <a:lstStyle/>
          <a:p>
            <a:r>
              <a:rPr lang="en-IN" sz="4000" dirty="0"/>
              <a:t>SUGGESTIONS</a:t>
            </a:r>
          </a:p>
        </p:txBody>
      </p:sp>
      <p:sp>
        <p:nvSpPr>
          <p:cNvPr id="3" name="Subtitle 2">
            <a:extLst>
              <a:ext uri="{FF2B5EF4-FFF2-40B4-BE49-F238E27FC236}">
                <a16:creationId xmlns:a16="http://schemas.microsoft.com/office/drawing/2014/main" id="{4A28874E-FD0F-4F4A-C0FA-7B588F59E12C}"/>
              </a:ext>
            </a:extLst>
          </p:cNvPr>
          <p:cNvSpPr>
            <a:spLocks noGrp="1"/>
          </p:cNvSpPr>
          <p:nvPr>
            <p:ph type="subTitle" idx="1"/>
          </p:nvPr>
        </p:nvSpPr>
        <p:spPr>
          <a:xfrm>
            <a:off x="963561" y="1592827"/>
            <a:ext cx="10078065" cy="4821420"/>
          </a:xfrm>
        </p:spPr>
        <p:txBody>
          <a:bodyPr>
            <a:noAutofit/>
          </a:bodyPr>
          <a:lstStyle/>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Incorporate longitudinal (time-series) patient data to improve differentiation between Mild and Moderate cases.</a:t>
            </a:r>
          </a:p>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Integrate advanced features such as genetic markers, brain imaging data, or wearable sensor data for better accuracy.</a:t>
            </a:r>
          </a:p>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Perform multi-center external validation to test model generalization across diverse populations.</a:t>
            </a:r>
          </a:p>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Optimize severity threshold definitions to better align with real-world clinical assessment standards.</a:t>
            </a:r>
          </a:p>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Enhance model interpretability using advanced explainable AI techniques (e.g., SHAP) to increase clinician trust and adoption.</a:t>
            </a:r>
          </a:p>
        </p:txBody>
      </p:sp>
    </p:spTree>
    <p:extLst>
      <p:ext uri="{BB962C8B-B14F-4D97-AF65-F5344CB8AC3E}">
        <p14:creationId xmlns:p14="http://schemas.microsoft.com/office/powerpoint/2010/main" val="10215868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14DB8-114D-0DF1-BE50-9233EBBD10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5442CD-CCE1-9093-B304-C446755F8440}"/>
              </a:ext>
            </a:extLst>
          </p:cNvPr>
          <p:cNvSpPr>
            <a:spLocks noGrp="1"/>
          </p:cNvSpPr>
          <p:nvPr>
            <p:ph type="ctrTitle"/>
          </p:nvPr>
        </p:nvSpPr>
        <p:spPr>
          <a:xfrm>
            <a:off x="4414684" y="1122363"/>
            <a:ext cx="3362633" cy="391805"/>
          </a:xfrm>
        </p:spPr>
        <p:txBody>
          <a:bodyPr>
            <a:normAutofit fontScale="90000"/>
          </a:bodyPr>
          <a:lstStyle/>
          <a:p>
            <a:r>
              <a:rPr lang="en-IN" sz="4000" dirty="0"/>
              <a:t>FUTURE SCOPE</a:t>
            </a:r>
          </a:p>
        </p:txBody>
      </p:sp>
      <p:sp>
        <p:nvSpPr>
          <p:cNvPr id="3" name="Subtitle 2">
            <a:extLst>
              <a:ext uri="{FF2B5EF4-FFF2-40B4-BE49-F238E27FC236}">
                <a16:creationId xmlns:a16="http://schemas.microsoft.com/office/drawing/2014/main" id="{AB5A64B8-74F7-C540-EC0D-FCF7E3B32510}"/>
              </a:ext>
            </a:extLst>
          </p:cNvPr>
          <p:cNvSpPr>
            <a:spLocks noGrp="1"/>
          </p:cNvSpPr>
          <p:nvPr>
            <p:ph type="subTitle" idx="1"/>
          </p:nvPr>
        </p:nvSpPr>
        <p:spPr>
          <a:xfrm>
            <a:off x="894736" y="1890793"/>
            <a:ext cx="10402529" cy="4165878"/>
          </a:xfrm>
        </p:spPr>
        <p:txBody>
          <a:bodyPr>
            <a:noAutofit/>
          </a:bodyPr>
          <a:lstStyle/>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Develop a real-time monitoring system by integrating wearable devices for continuous symptom tracking.</a:t>
            </a:r>
          </a:p>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Extend the model to predict disease progression trends over time using longitudinal data.</a:t>
            </a:r>
          </a:p>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Incorporate deep learning techniques to improve multi-class severity classification accuracy.</a:t>
            </a:r>
          </a:p>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Deploy the system as a cloud-based clinical decision support platform for hospital integration.</a:t>
            </a:r>
          </a:p>
          <a:p>
            <a:pPr marL="342900" indent="-342900" algn="just">
              <a:buClr>
                <a:schemeClr val="tx1"/>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Expand the model to support personalized treatment recommendations based on patient-specific risk profiles.</a:t>
            </a:r>
          </a:p>
        </p:txBody>
      </p:sp>
    </p:spTree>
    <p:extLst>
      <p:ext uri="{BB962C8B-B14F-4D97-AF65-F5344CB8AC3E}">
        <p14:creationId xmlns:p14="http://schemas.microsoft.com/office/powerpoint/2010/main" val="2671735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E3B5F-7510-5E36-E8D4-8F742E6A4B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0CC028-3B99-E73C-B3A5-92F3199E941D}"/>
              </a:ext>
            </a:extLst>
          </p:cNvPr>
          <p:cNvSpPr>
            <a:spLocks noGrp="1"/>
          </p:cNvSpPr>
          <p:nvPr>
            <p:ph type="ctrTitle"/>
          </p:nvPr>
        </p:nvSpPr>
        <p:spPr>
          <a:xfrm>
            <a:off x="1524000" y="940258"/>
            <a:ext cx="9144000" cy="659942"/>
          </a:xfrm>
        </p:spPr>
        <p:txBody>
          <a:bodyPr>
            <a:normAutofit/>
          </a:bodyPr>
          <a:lstStyle/>
          <a:p>
            <a:r>
              <a:rPr lang="en-IN" sz="4000" dirty="0"/>
              <a:t>CONCLUSION</a:t>
            </a:r>
          </a:p>
        </p:txBody>
      </p:sp>
      <p:sp>
        <p:nvSpPr>
          <p:cNvPr id="3" name="Subtitle 2">
            <a:extLst>
              <a:ext uri="{FF2B5EF4-FFF2-40B4-BE49-F238E27FC236}">
                <a16:creationId xmlns:a16="http://schemas.microsoft.com/office/drawing/2014/main" id="{F0EE14AB-3C63-DC7C-A636-D518A3DFAFE7}"/>
              </a:ext>
            </a:extLst>
          </p:cNvPr>
          <p:cNvSpPr>
            <a:spLocks noGrp="1"/>
          </p:cNvSpPr>
          <p:nvPr>
            <p:ph type="subTitle" idx="1"/>
          </p:nvPr>
        </p:nvSpPr>
        <p:spPr>
          <a:xfrm>
            <a:off x="997974" y="1890793"/>
            <a:ext cx="10196052" cy="4819289"/>
          </a:xfrm>
        </p:spPr>
        <p:txBody>
          <a:bodyPr>
            <a:normAutofit fontScale="92500" lnSpcReduction="10000"/>
          </a:bodyPr>
          <a:lstStyle/>
          <a:p>
            <a:pPr algn="just"/>
            <a:r>
              <a:rPr lang="en-US" sz="2600" dirty="0">
                <a:latin typeface="Times New Roman" panose="02020603050405020304" pitchFamily="18" charset="0"/>
                <a:cs typeface="Times New Roman" panose="02020603050405020304" pitchFamily="18" charset="0"/>
              </a:rPr>
              <a:t>This research presents an interpretable ensemble-based machine learning model for predicting Parkinson’s Disease severity using standard clinical data. The system classifies patients into Mild, Moderate, and Severe categories based on UPDRS criteria and achieves an overall accuracy of 51.4%, with a high recall of 94% for severe cases. The use of SMOTE for class balancing, RFE for feature selection, and a weighted ensemble of Random Forest, Logistic Regression, and Gradient Boosting improves robustness and reliability.</a:t>
            </a:r>
          </a:p>
          <a:p>
            <a:pPr algn="just"/>
            <a:r>
              <a:rPr lang="en-US" sz="2600" dirty="0">
                <a:latin typeface="Times New Roman" panose="02020603050405020304" pitchFamily="18" charset="0"/>
                <a:cs typeface="Times New Roman" panose="02020603050405020304" pitchFamily="18" charset="0"/>
              </a:rPr>
              <a:t>Although distinguishing mild and moderate cases remains challenging due to symptom overlap, the model performs effectively in identifying high-risk severe patients, making it valuable as a clinical decision support tool. The inclusion of feature importance analysis and a user-friendly GUI enhances interpretability and real-world applicability. Overall, this work demonstrates the potential of machine learning to assist clinicians in Parkinson’s Disease severity assessment and management.</a:t>
            </a:r>
          </a:p>
          <a:p>
            <a:pPr algn="just">
              <a:buClr>
                <a:schemeClr val="tx1"/>
              </a:buClr>
            </a:pPr>
            <a:endParaRPr lang="en-US" dirty="0"/>
          </a:p>
        </p:txBody>
      </p:sp>
    </p:spTree>
    <p:extLst>
      <p:ext uri="{BB962C8B-B14F-4D97-AF65-F5344CB8AC3E}">
        <p14:creationId xmlns:p14="http://schemas.microsoft.com/office/powerpoint/2010/main" val="1993586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4A47-4860-4739-15BC-C072E697B8CF}"/>
              </a:ext>
            </a:extLst>
          </p:cNvPr>
          <p:cNvSpPr>
            <a:spLocks noGrp="1"/>
          </p:cNvSpPr>
          <p:nvPr>
            <p:ph type="title"/>
          </p:nvPr>
        </p:nvSpPr>
        <p:spPr>
          <a:xfrm>
            <a:off x="4193458" y="365125"/>
            <a:ext cx="3805084" cy="1325563"/>
          </a:xfrm>
        </p:spPr>
        <p:txBody>
          <a:bodyPr/>
          <a:lstStyle/>
          <a:p>
            <a:pPr algn="ctr"/>
            <a:r>
              <a:rPr lang="en-US" dirty="0">
                <a:cs typeface="Times New Roman" panose="02020603050405020304" pitchFamily="18" charset="0"/>
              </a:rPr>
              <a:t>REFERENCES</a:t>
            </a:r>
            <a:endParaRPr lang="en-IN" dirty="0">
              <a:cs typeface="Times New Roman" panose="02020603050405020304" pitchFamily="18" charset="0"/>
            </a:endParaRPr>
          </a:p>
        </p:txBody>
      </p:sp>
      <p:sp>
        <p:nvSpPr>
          <p:cNvPr id="3" name="Content Placeholder 2">
            <a:extLst>
              <a:ext uri="{FF2B5EF4-FFF2-40B4-BE49-F238E27FC236}">
                <a16:creationId xmlns:a16="http://schemas.microsoft.com/office/drawing/2014/main" id="{D8D05EC9-A9AC-F2BD-5CF5-D0C2C90E5C89}"/>
              </a:ext>
            </a:extLst>
          </p:cNvPr>
          <p:cNvSpPr>
            <a:spLocks noGrp="1"/>
          </p:cNvSpPr>
          <p:nvPr>
            <p:ph idx="1"/>
          </p:nvPr>
        </p:nvSpPr>
        <p:spPr>
          <a:xfrm>
            <a:off x="891049" y="1825625"/>
            <a:ext cx="10409903" cy="4351338"/>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A. J. Hughes et al., "The accuracy of diagnosis of parkinsonian syndromes in a specialist movement disorder service," Brain, vol. 125, no. 4, pp. 861-870, 2002.</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C. G. Goetz et al., "Movement Disorder Society sponsored revision of the Unified Parkinson's Disease Rating Scale (MDS-UPDRS): Scale presentation and </a:t>
            </a:r>
            <a:r>
              <a:rPr lang="en-US" sz="2400" dirty="0" err="1">
                <a:latin typeface="Times New Roman" panose="02020603050405020304" pitchFamily="18" charset="0"/>
                <a:cs typeface="Times New Roman" panose="02020603050405020304" pitchFamily="18" charset="0"/>
              </a:rPr>
              <a:t>clinimetric</a:t>
            </a:r>
            <a:r>
              <a:rPr lang="en-US" sz="2400" dirty="0">
                <a:latin typeface="Times New Roman" panose="02020603050405020304" pitchFamily="18" charset="0"/>
                <a:cs typeface="Times New Roman" panose="02020603050405020304" pitchFamily="18" charset="0"/>
              </a:rPr>
              <a:t> testing results," Movement Disorders, vol. 23, no. 15, pp. 2129-2170, 2008.</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M. A. Little et al., "Suitable feature selection for the classification of Parkinson's disease patients using widespread voice measurement algorithms," in Proceedings of the 3rd International Conference on Bio-inspired Systems and Signal Processing, 2010, pp. 425-432.</a:t>
            </a:r>
            <a:endParaRPr lang="en-IN"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 Singh and N. P. Singh, "Effective diagnosis of Parkinson's disease through voice and gait analysis using machine learning," Journal of Medical Systems, vol. 44, no. 8, pp. 1-12, 2020.</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4900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346</TotalTime>
  <Words>1619</Words>
  <Application>Microsoft Office PowerPoint</Application>
  <PresentationFormat>Widescreen</PresentationFormat>
  <Paragraphs>135</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Calibri Light</vt:lpstr>
      <vt:lpstr>Times New Roman</vt:lpstr>
      <vt:lpstr>Office Theme</vt:lpstr>
      <vt:lpstr>PowerPoint Presentation</vt:lpstr>
      <vt:lpstr>CONTENTS</vt:lpstr>
      <vt:lpstr>ABSTRACT</vt:lpstr>
      <vt:lpstr>PROBLEM STATEMENT</vt:lpstr>
      <vt:lpstr>         OBJECTIVES</vt:lpstr>
      <vt:lpstr>          LITERATURE REVIEW</vt:lpstr>
      <vt:lpstr>TOOLS,TECHNOLOGY AND DATASET</vt:lpstr>
      <vt:lpstr>METHODOLOGY &amp; ARCHITECTURE</vt:lpstr>
      <vt:lpstr>INPUTS &amp; OUTPUTS</vt:lpstr>
      <vt:lpstr>MACHINE LEARNING ALGORITHMS USED</vt:lpstr>
      <vt:lpstr>MODEL EVALUATION</vt:lpstr>
      <vt:lpstr>SUGGESTIONS</vt:lpstr>
      <vt:lpstr>FUTURE SCOPE</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B22CS013</dc:creator>
  <cp:lastModifiedBy>Abhinav Reddy</cp:lastModifiedBy>
  <cp:revision>8</cp:revision>
  <dcterms:created xsi:type="dcterms:W3CDTF">2025-09-01T17:02:39Z</dcterms:created>
  <dcterms:modified xsi:type="dcterms:W3CDTF">2026-03-03T18:46:28Z</dcterms:modified>
</cp:coreProperties>
</file>